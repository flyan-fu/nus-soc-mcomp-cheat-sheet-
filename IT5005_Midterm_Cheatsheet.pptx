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7559675" cy="10691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955" y="1143000"/>
            <a:ext cx="218209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000" y="1749850"/>
            <a:ext cx="5670000" cy="3722453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000" y="5615855"/>
            <a:ext cx="5670000" cy="258146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89760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3870" indent="0" algn="ctr">
              <a:buNone/>
              <a:defRPr sz="13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13" y="2665613"/>
            <a:ext cx="6520500" cy="4447637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13" y="7155327"/>
            <a:ext cx="6520500" cy="2338907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8976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387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751" y="2846290"/>
            <a:ext cx="3213000" cy="678407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251" y="2846290"/>
            <a:ext cx="3213000" cy="678407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35" y="569258"/>
            <a:ext cx="6520500" cy="206665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735" y="2621063"/>
            <a:ext cx="3198234" cy="1284543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735" y="3905605"/>
            <a:ext cx="3198234" cy="574455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251" y="2621063"/>
            <a:ext cx="3213984" cy="1284543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89760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3870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251" y="3905605"/>
            <a:ext cx="3213984" cy="574455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35" y="712810"/>
            <a:ext cx="2438296" cy="2494835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3984" y="1539472"/>
            <a:ext cx="3827251" cy="759835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35" y="3207645"/>
            <a:ext cx="2438296" cy="5942559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35" y="712810"/>
            <a:ext cx="2438296" cy="2494835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3984" y="1539472"/>
            <a:ext cx="3827251" cy="7598357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89760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3870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35" y="3207645"/>
            <a:ext cx="2438296" cy="5942559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55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125" y="569258"/>
            <a:ext cx="1630125" cy="906110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751" y="569258"/>
            <a:ext cx="4795875" cy="906110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751" y="569258"/>
            <a:ext cx="6520500" cy="20666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751" y="2846290"/>
            <a:ext cx="6520500" cy="6784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751" y="9910040"/>
            <a:ext cx="1701000" cy="569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251" y="9910040"/>
            <a:ext cx="2551500" cy="569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39251" y="9910040"/>
            <a:ext cx="1701000" cy="569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ct val="166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270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8976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387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610" y="82485"/>
            <a:ext cx="2399665" cy="1689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Search Algorithms</a:t>
            </a:r>
            <a:r>
              <a:rPr lang="zh-CN" altLang="en-US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Uni</a:t>
            </a:r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nformed Search</a:t>
            </a:r>
            <a:endParaRPr lang="zh-CN" altLang="zh-CN" sz="600" b="1">
              <a:solidFill>
                <a:srgbClr val="D253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635" y="3239770"/>
            <a:ext cx="2527300" cy="2814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Informed Search - Basic Concept</a:t>
            </a:r>
            <a:endParaRPr lang="en-US" altLang="zh-CN" sz="800" b="1">
              <a:solidFill>
                <a:srgbClr val="D2533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br>
              <a:rPr lang="en-US" altLang="zh-CN" sz="7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7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Tree Structure VS Graph Structure</a:t>
            </a:r>
            <a:endParaRPr lang="en-US" altLang="zh-CN" sz="700" b="1">
              <a:solidFill>
                <a:srgbClr val="D2533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Tree(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树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是一个由节点和边组成的层级结构：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(1)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有一个特殊的节点，称为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根节点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(2)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除了根节点外，每个节点都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有且只有一个父节点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(3)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从根节点到任意节点都有唯一的一条路径。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(4)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树中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不允许存在环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b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Graph(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是由顶点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(Vertex)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和边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(Edge)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组成的任意关系结构，几乎没有限制。</a:t>
            </a:r>
            <a:endParaRPr lang="en-US" altLang="zh-CN" sz="700" b="1">
              <a:solidFill>
                <a:srgbClr val="D2533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一个顶点可以与任意数量的其他顶点相连（包括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个）。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顶点之间可以有多条路径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，甚至可以自己连成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(Cycle)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边可以是有方向的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也可以是无方向的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Heuristic Function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Admissibility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可采纳性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一个启发函数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h(n)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是可采纳的，如果它从不高估从节点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n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到达目标的实际代价。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对于所有节点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n, 0 ≤ h(n) ≤ h*(n)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Consistency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一致性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一个启发函数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h(n)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是一致的（也称为单调性），如果对于图中的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每一条边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(n, n')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，其估计代价满足三角不等式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h(n) ≤ c(n, a, n') + h(n')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-1300000" y="-21724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-1300000" y="113150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8" name="表格 27"/>
          <p:cNvGraphicFramePr/>
          <p:nvPr>
            <p:custDataLst>
              <p:tags r:id="rId1"/>
            </p:custDataLst>
          </p:nvPr>
        </p:nvGraphicFramePr>
        <p:xfrm>
          <a:off x="65405" y="273050"/>
          <a:ext cx="7414260" cy="2945130"/>
        </p:xfrm>
        <a:graphic>
          <a:graphicData uri="http://schemas.openxmlformats.org/drawingml/2006/table">
            <a:tbl>
              <a:tblPr/>
              <a:tblGrid>
                <a:gridCol w="676910"/>
                <a:gridCol w="1266190"/>
                <a:gridCol w="1344930"/>
                <a:gridCol w="1409065"/>
                <a:gridCol w="1428750"/>
                <a:gridCol w="1288415"/>
              </a:tblGrid>
              <a:tr h="224790"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BFS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Breadth-First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DFS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Depth-First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DLS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Depth-Limited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IDS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Iterative Deepening Depth-First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UCS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Uniform-Cost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91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Core Idea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地毯式搜索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 - 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按距离起始节点的层次逐层扩展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“一条路走到黑”：尽可能深地探索分支，直到无法继续再回溯。</a:t>
                      </a:r>
                      <a:b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基础，设置一个深度限制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。在搜索过程中，不会扩展超过深度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的节点。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通过逐次增加深度限制 的方式，反复调用深度受限搜索（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DLS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总是优先扩展当前路径成本最低的节点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Data Structure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FIFO Queue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先进先出队列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LIFO Queue (Stack)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后进先出队列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LIFO Queue (Stack)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后进先出队列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LIFO Queue (Stack)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后进先出队列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Pirority Queue 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Completeness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有限状态空间中完备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只要解存在，就一定能找到。</a:t>
                      </a:r>
                      <a:b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无限空间不完备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只在有限状态空间且有环检测时完备。无限深度空间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可能永远找不到解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否，当状态空间无限或深度限制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小于解的实际深度时，算法不完备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始终完备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只要问题有解且在有限深度内，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IDS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就一定能够找到它。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始终完备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98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Optimize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总是找到最短路径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不保证最优解，第一次找到的解可能不是最短路径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非单位代价或路径代价不同时不一定是最优解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单位代价的问题中，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能够保证找到最优解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总能找到最小成本路径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923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Time Complexity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O(V + E)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顶点数，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边数。每个节点和边只访问一次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O(b^m)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分支因子，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最大深度，可能很大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O(b^l)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，其中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是分支因子，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是深度限制。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O(b^d)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 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是分支因子（每个节点平均的子节点数）</a:t>
                      </a:r>
                      <a:b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 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是目标节点所在的深度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O(b^(1 + (C*/ε))) 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b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分支因子，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C*=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最优解成本，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ε=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最小边成本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78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Space Complexity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在完全树中可达 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O(b^d)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需要存储整层的所有节点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O(b^m)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b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分支因子，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最大深度，可能指数级增长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O(b*l)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分支因子，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深度限制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O(b*d),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由于每次只进行深度为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DFS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，其内存消耗仅与当前深度限制和分支因子成正比，远优于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BFS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O(b^(1 + C*/ε))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，与时间复杂度相同，因为需要将所有节点保存在内存中。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Memory Use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需要存储所有已发现但未访问的节点，内存需求大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只需存储当前路径上的节点，内存效率很高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系统栈存储一条路径上的节点及其未探索的兄弟节点。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系统栈存储一条路径上的节点及其未探索的兄弟节点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内存消耗大，需要存储所有已生成但未扩展的节点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Advantage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保证找到最短路径</a:t>
                      </a:r>
                      <a:b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（在无权图中）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实现简单，占用内存少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避免无限路径，节省内存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空间效率极高，保证最优解</a:t>
                      </a:r>
                      <a:b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避免无限循环，适用于解深度未知的场景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保证找到最优解</a:t>
                      </a:r>
                      <a:b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适用于加权图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573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Disadvantage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内存需求过大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可能陷入无限深度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深度限制难确定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重复搜索浅层节点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空间开销大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可能低效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Relationship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Basic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Basic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DFS+Limit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DFS+BFS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当所有边成本相等时</a:t>
                      </a:r>
                      <a:b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UCS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退化为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BFS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Usage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按层次遍历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适合找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最近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或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最短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的问题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图较小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深度有限的问题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知道解的大致深度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大多数情况的首选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寻找两点之间的最低成本路径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526665" y="3191510"/>
            <a:ext cx="25126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BF616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Propositional Logic</a:t>
            </a:r>
            <a:b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Logical compound: 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~(neg): Not; ∧and, V: or</a:t>
            </a:r>
            <a:b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Logical Equivalence: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95" y="3582670"/>
            <a:ext cx="2457450" cy="1210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270" y="4759325"/>
            <a:ext cx="2451100" cy="8947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26665" y="5666740"/>
            <a:ext cx="2552065" cy="49161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Conditional Statement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Conditional(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条件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):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If p, then q: 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 → 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premise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前提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,q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conclusion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结论。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只有当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为真且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Q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为假时，整个语句为假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。其他情况下都为真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Implication law:</a:t>
            </a:r>
            <a:r>
              <a:rPr lang="en-US" altLang="zh-CN" sz="7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q≡~pVq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Contrapositive(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逆否命题</a:t>
            </a:r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):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将原始命题两侧都取反并位置互换。逆否命题在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逻辑上等价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于原始命题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Converse-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逆命题；</a:t>
            </a:r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Inverse-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反命题</a:t>
            </a:r>
            <a:endParaRPr lang="en-US" altLang="zh-CN" sz="7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反命题和逆命题在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逻辑上等价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Bioconditional (if and only if)(iff)(</a:t>
            </a:r>
            <a:r>
              <a:rPr lang="en-US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⟺ </a:t>
            </a:r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) :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</a:rPr>
              <a:t>p↔q</a:t>
            </a:r>
            <a:endParaRPr lang="en-US" altLang="zh-CN" sz="7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p 与 q 同真同假时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</a:rPr>
              <a:t>语句为真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p↔q ≡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(p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q)∧(q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p) ≡ (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p∨q)∧(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q∨p)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Argument (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论证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Modus ponens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（肯定前件）</a:t>
            </a:r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P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Q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，并且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P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为真，那么可以推出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Q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为真，即：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((P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Q)∧P)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eg: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如果下雨，地会湿。现在下雨了。所以，地会湿。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Modus tollens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（否定后件）：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P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Q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，并且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Q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为假，那么可以推出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P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为假，即：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((P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Q)∧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¬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Q)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→¬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如果下雨，地会湿。地没有湿。所以，没有下雨。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Generalization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特定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示例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推导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出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般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性的规则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Anton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是少年。可以推导出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般性规则：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Anton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是少年（包含幼年）或成年（包含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⽼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年）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Specialization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般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性规则中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推导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出更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具体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的示例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eg: Ana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理解代数，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Ana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理解图论。可以推导出具体的规则：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Ana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理解代数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Elimination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消除不可能或不适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⽤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的选项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来逼近问题答案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Transitivity: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如果一个关系在一对对象间成立，并且也在第二对对象间成立，那么它同样在第一对和第三对对象间成立的逻辑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Tautology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（永真式）：</a:t>
            </a:r>
            <a:endParaRPr lang="zh-CN" altLang="en-US" sz="7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一个逻辑公式（或陈述）在其所有可能的真值赋值下，结果都为真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P∨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（排中律）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⟹ 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（自蕴涵）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(P∧Q)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⟹ 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（化简律）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Contradiction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（矛盾式）：</a:t>
            </a:r>
            <a:b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在所有真值赋值下都为假的公式。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P∧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Satisfiable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（可满足式）</a:t>
            </a:r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endParaRPr lang="zh-CN" altLang="en-US" sz="7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至少存在一种真值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赋值使得公式为真。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P ∧ Q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是可满足的（当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P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Q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都真时为真）。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范围：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包括所有永真式和所有偶然式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，但不包括矛盾式。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Contingency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（偶然式</a:t>
            </a:r>
            <a:r>
              <a:rPr lang="en-US" altLang="zh-CN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7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可满足式）：</a:t>
            </a:r>
            <a:endParaRPr lang="zh-CN" altLang="en-US" sz="7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既不是永真式也不是矛盾式的公式，其真值取决于赋值。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P∧Q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2520000" y="3240000"/>
            <a:ext cx="6350" cy="73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5040000" y="3240000"/>
            <a:ext cx="6350" cy="73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062565" y="-20454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062565" y="113150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006975" y="3174365"/>
            <a:ext cx="2552700" cy="73393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800" b="1">
                <a:solidFill>
                  <a:srgbClr val="BF616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Inference Mechanisms</a:t>
            </a:r>
            <a:endParaRPr lang="en-US" altLang="zh-CN" sz="800" b="1">
              <a:solidFill>
                <a:srgbClr val="BF616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800" b="1">
              <a:solidFill>
                <a:srgbClr val="BF616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⊨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logically entails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蕴涵）</a:t>
            </a:r>
            <a:endParaRPr lang="zh-CN" altLang="en-US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𝐴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⊨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𝐵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表示：在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所有使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𝐴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为真的模型中，𝐵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也为真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Formally: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 ⊨ b </a:t>
            </a:r>
            <a:r>
              <a:rPr lang="en-US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⟺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M(a) ⊆ M(b)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⊢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turnstile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推导符）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𝐴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⊢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𝐵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表示：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𝐵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可以从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𝐴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在形式系统内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推导出来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（语法推导）。更常见的是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Γ ⊢ φ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，其中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Γ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是一组公式（前提），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φ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是一个公式（结论），意思是：存在一个从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Γ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到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φ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的形式证明。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𝑃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𝑃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𝑄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⊢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𝑄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Model Checking Steps 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模型检查算法步骤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en-US" altLang="zh-CN" sz="7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70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模型检查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中，我们尝试每个变量的所有可能的真值组合，看看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在所有这些组合中是否为真。</a:t>
            </a:r>
            <a:endParaRPr lang="en-US" altLang="zh-CN" sz="70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假设要证明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⊨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写出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Truth Table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（真值表）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找到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True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的所有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⾏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(Crital Rows)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，查看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是否为真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为真但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为假的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⾏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，则证明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不能逻辑蕴含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反之，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为真的所有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⾏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都为真，则证明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逻辑蕴涵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归结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(Resolution)</a:t>
            </a:r>
            <a:endParaRPr lang="zh-CN" altLang="en-US" sz="7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规范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CNF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：在应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⽤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归结前，所有逻辑表达式必须转换成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合取范式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(CNF)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。即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命题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都以合取范式的形式表示。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CNF(Conjunctive Normal Form)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合取范式由多个子句构成，每个子句中的运算符都为或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(∨)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，字句之间的链接都为与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(∧)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eg: (p∨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q)∧(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p∨r)∧(q∨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r)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归结规则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：如果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⼦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句包含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，另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⼦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句包含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，那么通过归结可以得到新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⼦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句，该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⼦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句但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不包括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P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C1=P, C2=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P∨Q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归结得到：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Q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Resolution-Refutation 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归结反驳法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种证明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是否逻辑蕴涵某个命题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⽅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法。归结特别适</a:t>
            </a:r>
            <a:r>
              <a:rPr lang="en-US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⽤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于合取范式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(CNF)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归结反驳法流程：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知识表示：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所有前提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结论的否定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¬a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转化为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CNF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合取范式，得到一组子句。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反复应用归结规则：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从子句集中选出两个包含互补文字的子句，生成一个新的子句（归结式），并将新子句加入子句集。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终止条件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：如果生成了空子句，说明出现了矛盾，证明结束。原结论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得证。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：如果无法再生成新的子句且未得到空子句，说明原公式可满足，结论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无法被证明。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确定性子句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(definite clause)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恰好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包含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个正文字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的子句。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正文字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（原子公式）指为被否定的变量，例如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。否定的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⽂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字，例如</a:t>
            </a:r>
            <a:r>
              <a:rPr lang="en-US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¬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，被视为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负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文字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霍恩子句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(Horn clause)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包含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最多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个正文字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的子句。这意味着霍恩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子句可以只有负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⽂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字，或者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个正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⽂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字加上任意数量的负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⽂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Forward Chaining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正向链接算法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初始化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：从已知的事实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(KB)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规则匹配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：扫描所有的规则，找出其前提与当前已知事实匹配的规则。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规则应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⽤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：对于匹配的规则，将其结论加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⼊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到已知事实中。这可能会引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⼊⼀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些新的事实。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重复过程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：重复步骤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直到无法找到新的匹配规则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或者达到了特定的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目标，算法终</a:t>
            </a:r>
            <a:r>
              <a:rPr lang="en-US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⽌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此时，所有可以从初始事实集和规则集推导出的结论都已被推导出。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Unification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合一：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⽤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于确定是否可以通过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变量替换使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得两个或多个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逻辑表达式在形式上相等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。这种变量替换的集合称为替换（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Substitution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。统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⼀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过程的</a:t>
            </a:r>
            <a:r>
              <a:rPr lang="en-US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⽬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的是找到这样的替换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，使得经过替换后，某些表达式在结构和内容上完全匹配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155" y="6023545"/>
            <a:ext cx="2399665" cy="1689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Search Algorithms</a:t>
            </a:r>
            <a:r>
              <a:rPr lang="zh-CN" altLang="en-US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</a:rPr>
              <a:t>nformed Search</a:t>
            </a:r>
            <a:endParaRPr lang="zh-CN" altLang="zh-CN" sz="600" b="1">
              <a:solidFill>
                <a:srgbClr val="D253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4"/>
            </p:custDataLst>
          </p:nvPr>
        </p:nvGraphicFramePr>
        <p:xfrm>
          <a:off x="52070" y="6231255"/>
          <a:ext cx="2474595" cy="3110230"/>
        </p:xfrm>
        <a:graphic>
          <a:graphicData uri="http://schemas.openxmlformats.org/drawingml/2006/table">
            <a:tbl>
              <a:tblPr/>
              <a:tblGrid>
                <a:gridCol w="577215"/>
                <a:gridCol w="912495"/>
                <a:gridCol w="984885"/>
              </a:tblGrid>
              <a:tr h="226695"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GBFS</a:t>
                      </a:r>
                      <a:b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Greedy Best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-First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A*</a:t>
                      </a:r>
                      <a:br>
                        <a:rPr lang="en-US" altLang="zh-CN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A*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Search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20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Core Idea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贪心地直奔目标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”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：始终拓展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h(n)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最小的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平衡已走路径与预计剩余路径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Data Structure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Pirority Queue </a:t>
                      </a:r>
                      <a:br>
                        <a:rPr lang="en-US" altLang="zh-CN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Pirority Queue </a:t>
                      </a:r>
                      <a:br>
                        <a:rPr lang="en-US" altLang="zh-CN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优先级队列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410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Completeness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在有限状态空间且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避免重复环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的情况下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有限图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且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可采纳启发式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完备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Optimize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否</a:t>
                      </a:r>
                      <a:endParaRPr lang="zh-CN" altLang="en-US" sz="6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是（只要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h(n)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可采纳）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330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fficiency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6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通常很快找到解，但可能探索无关区域</a:t>
                      </a:r>
                      <a:endParaRPr lang="zh-CN" altLang="en-US" sz="6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比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GBFS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慢，但比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UCS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快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Time Complexity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最坏情况下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</a:t>
                      </a:r>
                      <a:r>
                        <a:rPr lang="en-US" altLang="zh-CN" sz="600" b="1" i="0" baseline="30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 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最大深度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O(b^m) </a:t>
                      </a:r>
                      <a:r>
                        <a:rPr lang="zh-CN" altLang="en-US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可能很大</a:t>
                      </a:r>
                      <a:b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分支因子，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m=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最大深度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4170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Space Complexity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最坏情况下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en-US" altLang="zh-CN" sz="6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O(b</a:t>
                      </a:r>
                      <a:r>
                        <a:rPr lang="en-US" altLang="zh-CN" sz="600" b="1" baseline="30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</a:t>
                      </a:r>
                      <a:r>
                        <a:rPr lang="en-US" altLang="zh-CN" sz="6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r>
                        <a:rPr lang="zh-CN" altLang="en-US" sz="6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6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 =</a:t>
                      </a:r>
                      <a:r>
                        <a:rPr lang="zh-CN" altLang="en-US" sz="6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最大深度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O(bd)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分支因子，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d=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最优解深度（与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UCS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相同）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905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Memory Use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内存需求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内存需求大，必须保存一大批中间节点以确保最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925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eature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第一个解出现快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找到第一个解可能较慢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Disadvantage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不保证最优解，解质量可能很差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内存消耗大，计算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开销大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2085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euristic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h(n)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h(n)+g(n)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p>
                      <a:pPr algn="l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Usage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适合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内存受限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、快速求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可行解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路径规划、游戏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、机器人导航等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要求最优解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的场景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/>
        </p:nvCxnSpPr>
        <p:spPr>
          <a:xfrm flipH="1">
            <a:off x="3780000" y="0"/>
            <a:ext cx="6350" cy="1069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-1300000" y="-21724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-1300000" y="113150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062565" y="-20454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062565" y="11315000"/>
            <a:ext cx="266700" cy="342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37940" y="72390"/>
            <a:ext cx="109791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" b="1">
                <a:solidFill>
                  <a:srgbClr val="D2533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Answer Tamplate</a:t>
            </a:r>
            <a:endParaRPr lang="en-US" altLang="zh-CN" sz="800" b="1">
              <a:solidFill>
                <a:srgbClr val="D2533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9375" y="3449955"/>
            <a:ext cx="3415665" cy="1399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80155" y="4925695"/>
            <a:ext cx="37191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Heuriatics Analysis</a:t>
            </a:r>
            <a:b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Admissiblity: for all node n, 0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 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h(n) 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 h(n)*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解题方法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列出全部的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h(n)*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（实际最小代价）与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h(n)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Consistency: for all edge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C(n,n`) 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 h(n)-h(n`)</a:t>
            </a:r>
            <a:endParaRPr lang="en-US" altLang="zh-CN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解题方法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列出全部的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C(n,n`)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对于每一个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h(n)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均对每一条边进行上述判断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0010" y="72390"/>
                <a:ext cx="3335655" cy="33369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indent="0" algn="l">
                  <a:buClrTx/>
                  <a:buSzTx/>
                  <a:buNone/>
                </a:pPr>
                <a:r>
                  <a:rPr lang="en-US" altLang="zh-CN" sz="800" b="1">
                    <a:solidFill>
                      <a:srgbClr val="D2533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Bayesian Network</a:t>
                </a:r>
                <a:endParaRPr lang="en-US" altLang="zh-CN" sz="800" b="1">
                  <a:solidFill>
                    <a:srgbClr val="D2533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endParaRPr lang="en-US" altLang="zh-CN" sz="8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 b="1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Bayes' Theorem</a:t>
                </a:r>
                <a:endParaRPr lang="en-US" altLang="zh-CN" sz="800" b="1">
                  <a:solidFill>
                    <a:schemeClr val="accent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7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P(A∣B)</a:t>
                </a:r>
                <a14:m>
                  <m:oMath xmlns:m="http://schemas.openxmlformats.org/officeDocument/2006/math">
                    <m:r>
                      <a:rPr lang="en-US" altLang="zh-CN" sz="700" b="1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𝐏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𝐀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)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𝐏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𝐁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∣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𝐀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𝐏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(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𝐁</m:t>
                        </m:r>
                        <m:r>
                          <a:rPr lang="en-US" altLang="zh-CN" sz="700" b="1"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7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P(A∣B): </a:t>
                </a:r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Posterior</a:t>
                </a: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probability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zh-CN" altLang="en-US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后验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概率）</a:t>
                </a:r>
                <a:endParaRPr lang="en-US" altLang="zh-CN" sz="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P(A): </a:t>
                </a:r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Prior </a:t>
                </a: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probability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zh-CN" altLang="en-US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先验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概率）</a:t>
                </a:r>
                <a:endParaRPr lang="en-US" altLang="zh-CN" sz="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P(B∣A): </a:t>
                </a:r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Likelihood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zh-CN" altLang="en-US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似然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度）</a:t>
                </a:r>
                <a:endParaRPr lang="en-US" altLang="zh-CN" sz="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P(B): Evidence / </a:t>
                </a:r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Marginal</a:t>
                </a: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likelihood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（证据</a:t>
                </a:r>
                <a:r>
                  <a:rPr lang="en-US" altLang="zh-CN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altLang="en-US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边际</a:t>
                </a:r>
                <a:r>
                  <a:rPr lang="zh-CN" altLang="en-US" sz="8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似然）</a:t>
                </a:r>
                <a:endParaRPr lang="en-US" altLang="zh-CN" sz="8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endParaRPr lang="en-US" altLang="zh-CN" sz="8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Setup a BN</a:t>
                </a:r>
                <a:endParaRPr lang="en-US" altLang="zh-CN" sz="8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1.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确定变量：识别问题中的所有相关随机变量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2.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确定依赖关系：建立变量间的因果关系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3.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构建图结构：绘制有向无环图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4.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估计参数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：为每个节点填写条件概率表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5.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推理计算：基于观测证据更新其他变量的概率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Basic connections of BN</a:t>
                </a:r>
                <a:endParaRPr lang="en-US" altLang="zh-CN" sz="800" b="1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(1) 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顺连</a:t>
                </a:r>
                <a:r>
                  <a:rPr lang="en-US" altLang="zh-CN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链状：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 </a:t>
                </a:r>
                <a:r>
                  <a:rPr lang="en-US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B </a:t>
                </a:r>
                <a:r>
                  <a:rPr lang="en-US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C</a:t>
                </a:r>
                <a:endParaRPr lang="en-US" altLang="zh-CN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已知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时，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独立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；未知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时，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相关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“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已知中间，阻断两端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”</a:t>
                </a:r>
                <a:endParaRPr lang="en-US" altLang="zh-CN" sz="800" b="1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(2) 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分连</a:t>
                </a:r>
                <a:r>
                  <a:rPr lang="en-US" altLang="zh-CN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共同原因</a:t>
                </a:r>
                <a:r>
                  <a:rPr lang="en-US" altLang="zh-CN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 </a:t>
                </a:r>
                <a:r>
                  <a:rPr lang="en-US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←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B </a:t>
                </a:r>
                <a:r>
                  <a:rPr lang="en-US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C</a:t>
                </a:r>
                <a:endParaRPr lang="en-US" altLang="zh-CN" sz="800" b="1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已知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时，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独立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；未知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时，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</a:t>
                </a:r>
                <a:r>
                  <a:rPr lang="zh-CN" altLang="en-US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相关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“</a:t>
                </a:r>
                <a:r>
                  <a:rPr lang="zh-CN" altLang="en-US" sz="8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已知共同原因，阻断不同结果</a:t>
                </a: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”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(3) 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汇连（共同</a:t>
                </a:r>
                <a:r>
                  <a:rPr lang="zh-CN" altLang="en-US" sz="800" b="1" i="0">
                    <a:solidFill>
                      <a:schemeClr val="accent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结果）：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 </a:t>
                </a:r>
                <a:r>
                  <a:rPr lang="en-US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→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B </a:t>
                </a:r>
                <a:r>
                  <a:rPr lang="en-US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←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C</a:t>
                </a:r>
                <a:endParaRPr lang="en-US" altLang="zh-CN" sz="800" b="1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已知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（或任意其后代）时，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</a:t>
                </a:r>
                <a:r>
                  <a:rPr lang="zh-CN" altLang="en-US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相关；</a:t>
                </a:r>
                <a:r>
                  <a:rPr lang="zh-CN" altLang="en-US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未知</a:t>
                </a:r>
                <a:r>
                  <a:rPr lang="en-US" altLang="zh-CN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  <a:r>
                  <a:rPr lang="zh-CN" altLang="en-US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时，</a:t>
                </a:r>
                <a:r>
                  <a:rPr lang="en-US" altLang="zh-CN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  <a:r>
                  <a:rPr lang="zh-CN" altLang="en-US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:r>
                  <a:rPr lang="en-US" altLang="zh-CN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</a:t>
                </a:r>
                <a:r>
                  <a:rPr lang="zh-CN" altLang="en-US" sz="800" b="1" i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独立</a:t>
                </a:r>
                <a:endParaRPr lang="zh-CN" altLang="en-US" sz="800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indent="0" algn="l">
                  <a:buClrTx/>
                  <a:buSzTx/>
                  <a:buFontTx/>
                  <a:buNone/>
                </a:pP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“</a:t>
                </a:r>
                <a:r>
                  <a:rPr lang="zh-CN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已知孩子，连通父母</a:t>
                </a:r>
                <a:r>
                  <a:rPr lang="en-US" altLang="zh-CN" sz="800" b="1" i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”</a:t>
                </a:r>
                <a:endParaRPr lang="en-US" altLang="zh-CN" sz="800" b="1" i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" y="72390"/>
                <a:ext cx="3335655" cy="33369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3837940" y="5911850"/>
            <a:ext cx="3467100" cy="103505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spcBef>
                <a:spcPts val="800"/>
              </a:spcBef>
              <a:buClrTx/>
              <a:buSzTx/>
              <a:buNone/>
            </a:pPr>
            <a:r>
              <a:rPr lang="zh-CN" altLang="zh-CN" sz="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Undirected moralized ancestral subgraph 无向道德化祖先子图方法</a:t>
            </a:r>
            <a:r>
              <a:rPr lang="zh-CN" altLang="zh-CN" sz="80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zh-CN" sz="80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spcBef>
                <a:spcPts val="800"/>
              </a:spcBef>
              <a:buClrTx/>
              <a:buSzTx/>
              <a:buNone/>
            </a:pPr>
            <a:r>
              <a:rPr lang="zh-CN" altLang="en-US" sz="80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判断贝叶斯网络中条件独立性的一个图形化方法</a:t>
            </a:r>
            <a:endParaRPr lang="zh-CN" altLang="en-US" sz="80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spcBef>
                <a:spcPts val="800"/>
              </a:spcBef>
              <a:buClrTx/>
              <a:buSzTx/>
              <a:buNone/>
            </a:pPr>
            <a:r>
              <a:rPr lang="zh-CN" altLang="en-US" sz="80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Ancest</a:t>
            </a:r>
            <a:r>
              <a:rPr lang="zh-CN" altLang="zh-CN" sz="80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ral 祖先化：</a:t>
            </a:r>
            <a:r>
              <a:rPr lang="zh-CN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只保留相关节点及其祖先。</a:t>
            </a:r>
            <a:endParaRPr lang="zh-CN" altLang="zh-CN" sz="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buClrTx/>
              <a:buSzTx/>
              <a:buNone/>
            </a:pPr>
            <a:r>
              <a:rPr lang="en-US" altLang="zh-CN" sz="80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zh-CN" sz="80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Moralization 道德化：</a:t>
            </a:r>
            <a:r>
              <a:rPr lang="zh-CN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有向边</a:t>
            </a:r>
            <a:r>
              <a:rPr lang="zh-CN" altLang="zh-CN" sz="8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变无向</a:t>
            </a:r>
            <a:r>
              <a:rPr lang="zh-CN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zh-CN" sz="80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</a:t>
            </a:r>
            <a:r>
              <a:rPr lang="zh-CN" altLang="zh-CN" sz="8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连接所有共父节点</a:t>
            </a:r>
            <a:r>
              <a:rPr lang="zh-CN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zh-CN" sz="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buClrTx/>
              <a:buSzTx/>
              <a:buNone/>
            </a:pPr>
            <a:r>
              <a:rPr lang="en-US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Undirected separation 非直接分离：在结果无向图中检查分离。（删除给定条件及其边，检查是否还有路径</a:t>
            </a:r>
            <a:r>
              <a:rPr lang="zh-CN" altLang="zh-CN" sz="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连通）</a:t>
            </a:r>
            <a:endParaRPr lang="zh-CN" altLang="zh-CN" sz="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0375309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140" y="2179955"/>
            <a:ext cx="3759835" cy="1040765"/>
          </a:xfrm>
          <a:prstGeom prst="rect">
            <a:avLst/>
          </a:prstGeom>
        </p:spPr>
      </p:pic>
      <p:pic>
        <p:nvPicPr>
          <p:cNvPr id="674597859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515" y="1184910"/>
            <a:ext cx="3680460" cy="9290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940" y="370840"/>
            <a:ext cx="3698240" cy="7296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80" y="7032625"/>
            <a:ext cx="3208020" cy="1224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3*263"/>
  <p:tag name="TABLE_ENDDRAG_RECT" val="5*27*583*263"/>
</p:tagLst>
</file>

<file path=ppt/tags/tag2.xml><?xml version="1.0" encoding="utf-8"?>
<p:tagLst xmlns:p="http://schemas.openxmlformats.org/presentationml/2006/main">
  <p:tag name="TABLE_ENDDRAG_ORIGIN_RECT" val="194*266"/>
  <p:tag name="TABLE_ENDDRAG_RECT" val="3*487*194*26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5908</Words>
  <Application>WPS 演示</Application>
  <PresentationFormat>宽屏</PresentationFormat>
  <Paragraphs>369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Cambria Math</vt:lpstr>
      <vt:lpstr>Calibri</vt:lpstr>
      <vt:lpstr>BatangChe</vt:lpstr>
      <vt:lpstr>Segoe Print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Fu</dc:creator>
  <cp:lastModifiedBy>Flyan.Fu</cp:lastModifiedBy>
  <cp:revision>16</cp:revision>
  <dcterms:created xsi:type="dcterms:W3CDTF">2023-08-09T12:44:00Z</dcterms:created>
  <dcterms:modified xsi:type="dcterms:W3CDTF">2025-10-06T03:42:09Z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E50FF8C5E83E4410B203374FF31F42D4_12</vt:lpwstr>
  </property>
</Properties>
</file>