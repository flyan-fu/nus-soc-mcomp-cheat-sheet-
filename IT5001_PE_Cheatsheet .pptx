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6858000" cy="990346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461" y="1143000"/>
            <a:ext cx="2137079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57250" y="1620798"/>
            <a:ext cx="5143500" cy="344792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57250" y="5201683"/>
            <a:ext cx="5143500" cy="23910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16" y="2469023"/>
            <a:ext cx="5915025" cy="411962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7916" y="6627618"/>
            <a:ext cx="5915025" cy="216641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71488" y="2636375"/>
            <a:ext cx="2914650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71863" y="2636375"/>
            <a:ext cx="2914650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527275"/>
            <a:ext cx="5915025" cy="191423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2381" y="2427758"/>
            <a:ext cx="2901255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381" y="3617565"/>
            <a:ext cx="2901255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71863" y="2427758"/>
            <a:ext cx="2915543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71863" y="3617565"/>
            <a:ext cx="2915543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240"/>
            <a:ext cx="2211883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15543" y="1425935"/>
            <a:ext cx="3471863" cy="703797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080"/>
            <a:ext cx="2211883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240"/>
            <a:ext cx="2211883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915543" y="1425935"/>
            <a:ext cx="3471863" cy="703797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080"/>
            <a:ext cx="2211883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07756" y="527275"/>
            <a:ext cx="1478756" cy="839284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71488" y="527275"/>
            <a:ext cx="4350544" cy="839284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275"/>
            <a:ext cx="5915025" cy="191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375"/>
            <a:ext cx="5915025" cy="6283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79170"/>
            <a:ext cx="2314575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7.emf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7625" y="102870"/>
            <a:ext cx="2818765" cy="83629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格式化字符串</a:t>
            </a:r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f-string</a:t>
            </a:r>
            <a:br>
              <a:rPr lang="en-US" altLang="zh-CN" sz="800">
                <a:solidFill>
                  <a:srgbClr val="D2533C"/>
                </a:solidFill>
                <a:latin typeface="Arial" panose="020B0604020202020204"/>
                <a:ea typeface="Arial" panose="020B0604020202020204"/>
              </a:rPr>
            </a:b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指定位数的进制转换，使用格式化指令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0Nb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binary_str = </a:t>
            </a:r>
            <a:r>
              <a:rPr lang="en-US" altLang="zh-CN" sz="80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f'{num:0{N}b}'  </a:t>
            </a:r>
            <a:endParaRPr lang="en-US" altLang="zh-CN" sz="800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# num</a:t>
            </a:r>
            <a:r>
              <a:rPr lang="zh-CN" altLang="en-US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：十进制数字，</a:t>
            </a:r>
            <a:r>
              <a:rPr lang="en-US" altLang="zh-CN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zh-CN" altLang="en-US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：位数</a:t>
            </a:r>
            <a:r>
              <a:rPr lang="en-US" altLang="zh-CN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 b: </a:t>
            </a:r>
            <a:r>
              <a:rPr lang="zh-CN" altLang="en-US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格式化为</a:t>
            </a:r>
            <a:r>
              <a:rPr lang="en-US" altLang="zh-CN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进制</a:t>
            </a:r>
            <a:endParaRPr lang="en-US" altLang="zh-CN" sz="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-3454400" y="-2071370"/>
            <a:ext cx="444500" cy="4191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9321800" y="-2071370"/>
            <a:ext cx="444500" cy="4191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9321800" y="10730230"/>
            <a:ext cx="444500" cy="4191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-3454400" y="10730230"/>
            <a:ext cx="444500" cy="4191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47625" y="739775"/>
            <a:ext cx="2947670" cy="345440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列表推导式</a:t>
            </a:r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list Comprehension</a:t>
            </a:r>
            <a:endParaRPr lang="en-US" altLang="zh-CN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相同的概念同样适用于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集合</a:t>
            </a:r>
            <a:r>
              <a:rPr lang="zh-CN" altLang="en-US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字典等其它可迭代对象</a:t>
            </a:r>
            <a:br>
              <a:rPr lang="en-US" altLang="zh-CN" sz="800">
                <a:solidFill>
                  <a:srgbClr val="FF0000"/>
                </a:solidFill>
                <a:latin typeface="Arial" panose="020B0604020202020204"/>
                <a:ea typeface="Arial" panose="020B0604020202020204"/>
              </a:rPr>
            </a:b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[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表达式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for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元素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in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可迭代对象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8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if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条件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]</a:t>
            </a:r>
            <a:endParaRPr lang="zh-CN" alt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eg:</a:t>
            </a:r>
            <a:endParaRPr lang="zh-CN" altLang="en-US" sz="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列表推导式的高级应用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多重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迭代</a:t>
            </a:r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eg: 九宫格键盘全部输出组合</a:t>
            </a:r>
            <a:endParaRPr lang="zh-CN" alt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列表的浅拷贝（Shallow Copy）</a:t>
            </a:r>
            <a:br>
              <a:rPr lang="zh-CN" altLang="en-US" sz="800">
                <a:sym typeface="+mn-ea"/>
              </a:rPr>
            </a:b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使用切片操作 [:] 最简洁，用于单层列表复制</a:t>
            </a:r>
            <a:endParaRPr lang="zh-CN" altLang="en-US" sz="800"/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eg: </a:t>
            </a: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new_list = original_list[:]</a:t>
            </a:r>
            <a:endParaRPr lang="en-US" altLang="zh-CN" sz="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列表的深拷贝（</a:t>
            </a:r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Copy</a:t>
            </a:r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>
                <a:solidFill>
                  <a:srgbClr val="FF0000"/>
                </a:solidFill>
                <a:latin typeface="Arial" panose="020B0604020202020204"/>
                <a:ea typeface="Arial" panose="020B0604020202020204"/>
                <a:sym typeface="+mn-ea"/>
              </a:rPr>
              <a:t>* </a:t>
            </a:r>
            <a:r>
              <a:rPr lang="zh-CN" altLang="zh-CN" sz="800">
                <a:solidFill>
                  <a:srgbClr val="FF0000"/>
                </a:solidFill>
                <a:latin typeface="Arial" panose="020B0604020202020204"/>
                <a:ea typeface="宋体" panose="02010600030101010101" pitchFamily="2" charset="-122"/>
                <a:sym typeface="+mn-ea"/>
              </a:rPr>
              <a:t>需要导入</a:t>
            </a:r>
            <a:r>
              <a:rPr lang="en-US" altLang="zh-CN" sz="800">
                <a:solidFill>
                  <a:srgbClr val="FF0000"/>
                </a:solidFill>
                <a:latin typeface="Arial" panose="020B0604020202020204"/>
                <a:ea typeface="宋体" panose="02010600030101010101" pitchFamily="2" charset="-122"/>
                <a:sym typeface="+mn-ea"/>
              </a:rPr>
              <a:t>copy</a:t>
            </a:r>
            <a:r>
              <a:rPr lang="zh-CN" altLang="en-US" sz="800">
                <a:solidFill>
                  <a:srgbClr val="FF0000"/>
                </a:solidFill>
                <a:latin typeface="Arial" panose="020B0604020202020204"/>
                <a:ea typeface="宋体" panose="02010600030101010101" pitchFamily="2" charset="-122"/>
                <a:sym typeface="+mn-ea"/>
              </a:rPr>
              <a:t>库</a:t>
            </a:r>
            <a:endParaRPr lang="en-US" altLang="zh-CN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eg: new_list = copy.deepcopy(my_list)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  <a:buNone/>
            </a:pP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用于嵌套列表复制</a:t>
            </a:r>
            <a:endParaRPr lang="zh-CN" alt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  <a:buNone/>
            </a:pP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列表转换成字符串 str.join </a:t>
            </a:r>
            <a:endParaRPr lang="zh-CN" altLang="en-US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  <a:buNone/>
            </a:pP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eg: “ ”.join(mylist)</a:t>
            </a:r>
            <a:endParaRPr lang="en-US" altLang="zh-CN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  <a:buNone/>
            </a:pP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字符串转换成列表</a:t>
            </a:r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str.split()</a:t>
            </a:r>
            <a:endParaRPr lang="zh-CN" altLang="en-US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40380" y="3738245"/>
            <a:ext cx="2553335" cy="29381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二分法查找</a:t>
            </a:r>
            <a:br>
              <a:rPr lang="zh-CN" altLang="en-US"/>
            </a:br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二分查找是处理有序数据时，效率最高的查找方法</a:t>
            </a:r>
            <a:endParaRPr lang="zh-CN" altLang="en-US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时间复杂度</a:t>
            </a:r>
            <a:r>
              <a:rPr lang="en-US" altLang="zh-CN" sz="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 O(logN)</a:t>
            </a:r>
            <a:endParaRPr lang="en-US" altLang="zh-CN" sz="8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8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【寻找目标值在数组中的索引】</a:t>
            </a:r>
            <a:endParaRPr lang="en-US" altLang="zh-CN" sz="800" b="1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def binary_search(arr, target):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left = 0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right = len(arr) - 1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#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当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left &lt;= right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时，表示查找范围仍然有效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while left &lt;= right: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#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计算中间索引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,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避免可能导致的整数溢出</a:t>
            </a:r>
            <a:endParaRPr lang="zh-CN" altLang="en-US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mid = left + (right - left) // 2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current_value = arr[mid]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if current_value == target: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#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找到目标值，返回索引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return mid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elif current_value &lt; target: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#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中间值太小，目标在右侧，移动左边界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left = mid + 1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else: 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#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中间值太大，目标在左侧，移动右边界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right = mid - 1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# 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循环结束时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left &gt; right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，表示没有找到目标值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return false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6995" y="6026785"/>
            <a:ext cx="2593975" cy="3544570"/>
            <a:chOff x="137" y="9862"/>
            <a:chExt cx="3933" cy="5316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67" y="10249"/>
              <a:ext cx="3803" cy="4929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137" y="9862"/>
              <a:ext cx="3285" cy="32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>
                <a:buClrTx/>
                <a:buSzTx/>
                <a:buFontTx/>
              </a:pPr>
              <a:r>
                <a:rPr lang="zh-CN" altLang="en-US" sz="800" b="1">
                  <a:solidFill>
                    <a:srgbClr val="00B05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【ASCII 二维数组图形匹配】</a:t>
              </a:r>
              <a:endParaRPr lang="zh-CN" altLang="en-US" sz="8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90" y="1156970"/>
            <a:ext cx="2261870" cy="13462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3040380" y="113030"/>
            <a:ext cx="2286000" cy="1789430"/>
            <a:chOff x="3942" y="290"/>
            <a:chExt cx="3600" cy="2818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45" y="612"/>
              <a:ext cx="3078" cy="2496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3942" y="290"/>
              <a:ext cx="3600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9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文件操作</a:t>
              </a:r>
              <a:endPara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031490" y="1946910"/>
            <a:ext cx="2286000" cy="1530350"/>
            <a:chOff x="4142" y="2996"/>
            <a:chExt cx="3600" cy="2410"/>
          </a:xfrm>
        </p:grpSpPr>
        <p:sp>
          <p:nvSpPr>
            <p:cNvPr id="13" name="文本框 12"/>
            <p:cNvSpPr txBox="1"/>
            <p:nvPr/>
          </p:nvSpPr>
          <p:spPr>
            <a:xfrm>
              <a:off x="4142" y="2996"/>
              <a:ext cx="3600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9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哈希表创建（用于统计与查询）</a:t>
              </a:r>
              <a:br>
                <a:rPr lang="zh-CN" altLang="en-US" sz="9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</a:br>
              <a:r>
                <a:rPr lang="zh-CN" altLang="en-US" sz="800" b="1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eg: 统计单词出现次数</a:t>
              </a:r>
              <a:endPara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endPara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59" y="3494"/>
              <a:ext cx="2212" cy="1912"/>
            </a:xfrm>
            <a:prstGeom prst="rect">
              <a:avLst/>
            </a:prstGeom>
          </p:spPr>
        </p:pic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" y="1572895"/>
            <a:ext cx="2177415" cy="1082675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26670" y="4194175"/>
            <a:ext cx="2226945" cy="1364089"/>
            <a:chOff x="137" y="6366"/>
            <a:chExt cx="3208" cy="1833"/>
          </a:xfrm>
        </p:grpSpPr>
        <p:sp>
          <p:nvSpPr>
            <p:cNvPr id="17" name="文本框 16"/>
            <p:cNvSpPr txBox="1"/>
            <p:nvPr/>
          </p:nvSpPr>
          <p:spPr>
            <a:xfrm>
              <a:off x="137" y="6366"/>
              <a:ext cx="2935" cy="63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>
                <a:buClrTx/>
                <a:buSzTx/>
                <a:buFontTx/>
                <a:buNone/>
              </a:pPr>
              <a:r>
                <a:rPr lang="zh-CN" altLang="en-US" sz="9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二维数组显示</a:t>
              </a:r>
              <a:endPara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buClrTx/>
                <a:buSzTx/>
                <a:buFontTx/>
                <a:buNone/>
              </a:pPr>
              <a:endPara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buClrTx/>
                <a:buSzTx/>
                <a:buFontTx/>
                <a:buNone/>
              </a:pPr>
              <a:r>
                <a:rPr lang="zh-CN" altLang="en-US" sz="8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endPara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5" y="6780"/>
              <a:ext cx="3130" cy="1419"/>
            </a:xfrm>
            <a:prstGeom prst="rect">
              <a:avLst/>
            </a:prstGeom>
          </p:spPr>
        </p:pic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6420" y="7345680"/>
            <a:ext cx="3573780" cy="184594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3106420" y="7027545"/>
            <a:ext cx="1647825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计算方阵的</a:t>
            </a:r>
            <a:r>
              <a:rPr lang="zh-CN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逆</a:t>
            </a:r>
            <a:endParaRPr lang="zh-CN" altLang="zh-CN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矩形 22"/>
          <p:cNvSpPr/>
          <p:nvPr/>
        </p:nvSpPr>
        <p:spPr>
          <a:xfrm>
            <a:off x="-3454400" y="-2071370"/>
            <a:ext cx="444500" cy="4191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9321800" y="-2071370"/>
            <a:ext cx="444500" cy="4191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9321800" y="10730230"/>
            <a:ext cx="444500" cy="4191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-3454400" y="10730230"/>
            <a:ext cx="444500" cy="4191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3388360" y="447675"/>
            <a:ext cx="3381375" cy="1442085"/>
            <a:chOff x="5288" y="799"/>
            <a:chExt cx="5237" cy="216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288" y="1271"/>
              <a:ext cx="5237" cy="1695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5344" y="799"/>
              <a:ext cx="3600" cy="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one-liners</a:t>
              </a:r>
              <a:endParaRPr lang="en-US" altLang="zh-CN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9375" y="255905"/>
            <a:ext cx="2286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数组迷宫</a:t>
            </a:r>
            <a:endParaRPr lang="en-US" altLang="zh-CN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79375" y="538480"/>
            <a:ext cx="3141980" cy="2736215"/>
            <a:chOff x="86" y="848"/>
            <a:chExt cx="4948" cy="4309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" y="848"/>
              <a:ext cx="4367" cy="1744"/>
            </a:xfrm>
            <a:prstGeom prst="rect">
              <a:avLst/>
            </a:prstGeom>
          </p:spPr>
        </p:pic>
        <p:grpSp>
          <p:nvGrpSpPr>
            <p:cNvPr id="22" name="组合 21"/>
            <p:cNvGrpSpPr/>
            <p:nvPr/>
          </p:nvGrpSpPr>
          <p:grpSpPr>
            <a:xfrm>
              <a:off x="86" y="2699"/>
              <a:ext cx="4948" cy="2458"/>
              <a:chOff x="122" y="2751"/>
              <a:chExt cx="4948" cy="2458"/>
            </a:xfrm>
          </p:grpSpPr>
          <p:pic>
            <p:nvPicPr>
              <p:cNvPr id="17" name="图片 1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" y="2751"/>
                <a:ext cx="4948" cy="636"/>
              </a:xfrm>
              <a:prstGeom prst="rect">
                <a:avLst/>
              </a:prstGeom>
            </p:spPr>
          </p:pic>
          <p:pic>
            <p:nvPicPr>
              <p:cNvPr id="18" name="图片 1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" y="3387"/>
                <a:ext cx="4919" cy="265"/>
              </a:xfrm>
              <a:prstGeom prst="rect">
                <a:avLst/>
              </a:prstGeom>
            </p:spPr>
          </p:pic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2" y="3682"/>
                <a:ext cx="4691" cy="381"/>
              </a:xfrm>
              <a:prstGeom prst="rect">
                <a:avLst/>
              </a:prstGeom>
            </p:spPr>
          </p:pic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2" y="4075"/>
                <a:ext cx="4909" cy="664"/>
              </a:xfrm>
              <a:prstGeom prst="rect">
                <a:avLst/>
              </a:prstGeom>
            </p:spPr>
          </p:pic>
          <p:pic>
            <p:nvPicPr>
              <p:cNvPr id="21" name="图片 20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2" y="4795"/>
                <a:ext cx="4690" cy="415"/>
              </a:xfrm>
              <a:prstGeom prst="rect">
                <a:avLst/>
              </a:prstGeom>
            </p:spPr>
          </p:pic>
        </p:grpSp>
      </p:grpSp>
      <p:sp>
        <p:nvSpPr>
          <p:cNvPr id="26" name="文本框 25"/>
          <p:cNvSpPr txBox="1"/>
          <p:nvPr/>
        </p:nvSpPr>
        <p:spPr>
          <a:xfrm>
            <a:off x="79375" y="3413125"/>
            <a:ext cx="228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文本分析</a:t>
            </a:r>
            <a:endParaRPr lang="zh-CN" altLang="en-US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800" y="3656965"/>
            <a:ext cx="2473960" cy="201358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00" y="5725160"/>
            <a:ext cx="2258060" cy="20262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64815" y="2554605"/>
            <a:ext cx="3662680" cy="63188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1013</Words>
  <Application>WPS 演示</Application>
  <PresentationFormat>宽屏</PresentationFormat>
  <Paragraphs>76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Arial</vt:lpstr>
      <vt:lpstr>Courier New</vt:lpstr>
      <vt:lpstr>Cascadia Mono SemiLight</vt:lpstr>
      <vt:lpstr>Calibri</vt:lpstr>
      <vt:lpstr>Arial Unicode MS</vt:lpstr>
      <vt:lpstr>Google Sans Text</vt:lpstr>
      <vt:lpstr>Segoe Print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Fu</dc:creator>
  <cp:lastModifiedBy>Flyan.Fu</cp:lastModifiedBy>
  <cp:revision>30</cp:revision>
  <dcterms:created xsi:type="dcterms:W3CDTF">2023-08-09T12:44:00Z</dcterms:created>
  <dcterms:modified xsi:type="dcterms:W3CDTF">2025-11-01T09:40:20Z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E50FF8C5E83E4410B203374FF31F42D4_12</vt:lpwstr>
  </property>
</Properties>
</file>