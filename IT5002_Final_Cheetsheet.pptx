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0691495" cy="7559675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35265" y="857250"/>
            <a:ext cx="327347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00" y="1237251"/>
            <a:ext cx="8019000" cy="2632000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00" y="3970751"/>
            <a:ext cx="8019000" cy="1825249"/>
          </a:xfrm>
        </p:spPr>
        <p:txBody>
          <a:bodyPr/>
          <a:lstStyle>
            <a:lvl1pPr marL="0" indent="0" algn="ctr">
              <a:buNone/>
              <a:defRPr sz="2645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06" y="1884751"/>
            <a:ext cx="9221850" cy="3144749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06" y="5059251"/>
            <a:ext cx="9221850" cy="1653749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075" y="2012500"/>
            <a:ext cx="4544100" cy="47967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2825" y="2012500"/>
            <a:ext cx="4544100" cy="47967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402500"/>
            <a:ext cx="9221850" cy="146125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468" y="1853251"/>
            <a:ext cx="4523217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6468" y="2761500"/>
            <a:ext cx="4523217" cy="40617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2825" y="1853251"/>
            <a:ext cx="4545493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2825" y="2761500"/>
            <a:ext cx="4545493" cy="40617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>
              <a:defRPr sz="3530"/>
            </a:lvl1pPr>
            <a:lvl2pPr>
              <a:defRPr sz="3085"/>
            </a:lvl2pPr>
            <a:lvl3pPr>
              <a:defRPr sz="2645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1462" y="402500"/>
            <a:ext cx="2305462" cy="640675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075" y="402500"/>
            <a:ext cx="6782737" cy="640675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075" y="402500"/>
            <a:ext cx="9221850" cy="1461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075" y="2012500"/>
            <a:ext cx="9221850" cy="4796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507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41725" y="7007000"/>
            <a:ext cx="360855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5122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308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0" name="图片 49"/>
          <p:cNvPicPr>
            <a:picLocks noChangeAspect="1"/>
          </p:cNvPicPr>
          <p:nvPr/>
        </p:nvPicPr>
        <p:blipFill>
          <a:blip r:embed="rId1"/>
          <a:srcRect t="6886" r="2640"/>
          <a:stretch>
            <a:fillRect/>
          </a:stretch>
        </p:blipFill>
        <p:spPr>
          <a:xfrm>
            <a:off x="5680075" y="3072130"/>
            <a:ext cx="1913890" cy="104203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rcRect l="8967" r="3720"/>
          <a:stretch>
            <a:fillRect/>
          </a:stretch>
        </p:blipFill>
        <p:spPr>
          <a:xfrm>
            <a:off x="7897495" y="1078230"/>
            <a:ext cx="1669415" cy="87884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674800" y="0"/>
            <a:ext cx="0" cy="75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346000" y="0"/>
            <a:ext cx="0" cy="75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-2951000" y="-316293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-2951000" y="9847585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447115" y="-316293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2447115" y="9847585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0" y="3175"/>
            <a:ext cx="2985770" cy="2298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Pipeline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流水线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-2540" y="162560"/>
            <a:ext cx="2676525" cy="652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Introduction: P</a:t>
            </a:r>
            <a:r>
              <a:rPr 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ipelining</a:t>
            </a:r>
            <a:endParaRPr 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流水线设计并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不能降低单个任务的延迟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：它提升的是整体工作负载的吞吐量。多个任务通过占用不同资源实现并行运作。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潜在延迟问题：流水线速率受制于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最慢的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task stage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，依赖关系可能导致流水线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stall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停滞。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endParaRPr 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Five Execution Stages</a:t>
            </a:r>
            <a:endParaRPr 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6600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 Instruction Fetch 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取指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令</a:t>
            </a:r>
            <a:endParaRPr 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0066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指令解码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与读寄存器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执行操作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或计算地址</a:t>
            </a:r>
            <a:endParaRPr 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从存储中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读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</a:t>
            </a:r>
            <a:endParaRPr 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WB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回写结果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至寄存器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0066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Idea: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Pineline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的每个任务使用1个时钟周期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endParaRPr lang="en-US" sz="700" b="1" dirty="0">
              <a:solidFill>
                <a:srgbClr val="0066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Single-cycle inplementation </a:t>
            </a:r>
            <a:r>
              <a:rPr lang="zh-CN" alt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单周期实现</a:t>
            </a:r>
            <a:endParaRPr lang="zh-CN" alt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单周期实现方式：在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时钟周期结束时更新所有状态元素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（程序计数器、寄存器文件、数据存储器）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 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流水线实现方式：每个流水线的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stage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占用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一个时钟周期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，每个阶段所需数据必须单独存储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Four Pipelining registers </a:t>
            </a:r>
            <a:r>
              <a:rPr lang="zh-CN" alt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流水线寄存器</a:t>
            </a:r>
            <a:endParaRPr 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IF/ID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register between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IF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and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endParaRPr lang="en-US" sz="7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ID/EX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register between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 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and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EX</a:t>
            </a:r>
            <a:endParaRPr lang="en-US" sz="7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EX/MEM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register between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EX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and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MEM</a:t>
            </a:r>
            <a:endParaRPr lang="en-US" sz="7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MEM/WB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register between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MEM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and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WB</a:t>
            </a:r>
            <a:endParaRPr lang="en-US" altLang="zh-CN" sz="7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 Stage </a:t>
            </a:r>
            <a:r>
              <a:rPr lang="zh-CN" altLang="en-US" sz="7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取指阶段</a:t>
            </a:r>
            <a:endParaRPr lang="zh-CN" altLang="en-US" sz="7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阶段结束时，阶段接收（存储）以下内容：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从指令存储器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[PC]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读取的指令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--PC+4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值（同时连接到多路复用器的一个输入端）。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 Stage </a:t>
            </a:r>
            <a:r>
              <a:rPr lang="zh-CN" altLang="en-US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解指令阶段</a:t>
            </a:r>
            <a:endParaRPr lang="zh-CN" altLang="en-US" sz="700" b="1" dirty="0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开始时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IF/ID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寄存器提供：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读取两个寄存器的寄存器编号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-- 16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位偏移量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立即数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需符号扩展至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32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位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结束时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sz="7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ID/EX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寄存器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接收：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从寄存器文件读取的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数据值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32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位立即数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值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PC + 4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 S</a:t>
            </a:r>
            <a:r>
              <a:rPr lang="en-US" sz="7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tage 执行操作阶段</a:t>
            </a:r>
            <a:endParaRPr lang="en-US" sz="7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开始时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sz="7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ID/EX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寄存器提供</a:t>
            </a:r>
            <a:r>
              <a:rPr lang="en-US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 Stage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结束时接收值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结束时，</a:t>
            </a:r>
            <a:r>
              <a:rPr lang="en-US" sz="7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EX/MEM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寄存器接收：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(PC + 4) + (Immediate</a:t>
            </a:r>
            <a:r>
              <a:rPr lang="en-US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×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4)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 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ALU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运算结果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 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零值判断信号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 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读取的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Read Data2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 Stage </a:t>
            </a:r>
            <a:r>
              <a:rPr lang="zh-CN" alt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存储阶段</a:t>
            </a:r>
            <a:endParaRPr lang="zh-CN" altLang="en-US" sz="7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开始时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sz="7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EX/MEM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寄存器提供</a:t>
            </a:r>
            <a:r>
              <a:rPr lang="en-US" sz="7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 Stage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结束时接收值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结束时，</a:t>
            </a:r>
            <a:r>
              <a:rPr lang="en-US" sz="7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MEM/WB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寄存器接收：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ALU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运算结果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内存读取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的数据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sz="7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WB Stage 回写阶段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开始时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sz="7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MEM/WB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寄存器提供</a:t>
            </a:r>
            <a:r>
              <a:rPr 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 Stage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结束时接收值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结束时，</a:t>
            </a:r>
            <a:r>
              <a:rPr lang="en-US" sz="7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MEM/WB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寄存器接收：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结果被写回寄存器文件（如适用）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回写阶段的问题：写入寄存器编号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被覆盖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解决方案：将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写入寄存器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编号随指令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在流水线中传递，直至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WB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阶段需要时调用。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spcAft>
                <a:spcPts val="0"/>
              </a:spcAft>
              <a:buSzPct val="100000"/>
              <a:buFont typeface="Wingdings" panose="05000000000000000000" pitchFamily="2" charset="2"/>
              <a:buNone/>
            </a:pP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684145" y="247015"/>
            <a:ext cx="2651125" cy="1609725"/>
            <a:chOff x="7954" y="10646"/>
            <a:chExt cx="3917" cy="213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7" y="10646"/>
              <a:ext cx="3915" cy="985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4" y="11631"/>
              <a:ext cx="3905" cy="1152"/>
            </a:xfrm>
            <a:prstGeom prst="rect">
              <a:avLst/>
            </a:prstGeom>
          </p:spPr>
        </p:pic>
      </p:grpSp>
      <p:sp>
        <p:nvSpPr>
          <p:cNvPr id="33" name="文本框 32"/>
          <p:cNvSpPr txBox="1"/>
          <p:nvPr/>
        </p:nvSpPr>
        <p:spPr>
          <a:xfrm>
            <a:off x="-3175" y="6355080"/>
            <a:ext cx="26670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Pineline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控制信号的传递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5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275" y="6553835"/>
            <a:ext cx="2702560" cy="9740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6" name="文本框 15"/>
          <p:cNvSpPr txBox="1"/>
          <p:nvPr/>
        </p:nvSpPr>
        <p:spPr>
          <a:xfrm>
            <a:off x="2675255" y="34290"/>
            <a:ext cx="26670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Pineline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控制信号分组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2685415" y="1965960"/>
                <a:ext cx="2663190" cy="34645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</a:pPr>
                <a:r>
                  <a:rPr lang="en-US" sz="8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Single Cycle Processor Performance</a:t>
                </a:r>
                <a:endParaRPr lang="en-US" sz="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endParaRPr>
              </a:p>
              <a:p>
                <a:pPr marL="0" lvl="1" algn="l">
                  <a:buClrTx/>
                  <a:buSzTx/>
                  <a:buFontTx/>
                </a:pPr>
                <a:r>
                  <a:rPr lang="en-US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Cycle Time </a:t>
                </a:r>
                <a:r>
                  <a:rPr lang="en-US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=</a:t>
                </a:r>
                <a:r>
                  <a:rPr lang="en-US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00" b="1" dirty="0">
                            <a:solidFill>
                              <a:srgbClr val="C00000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700" b="1" dirty="0">
                            <a:solidFill>
                              <a:srgbClr val="C00000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Courier New" panose="02070309020205020404" pitchFamily="49" charset="0"/>
                          </a:rPr>
                          <m:t>𝐶𝑇</m:t>
                        </m:r>
                      </m:e>
                      <m:sub>
                        <m:r>
                          <a:rPr lang="en-US" sz="700" b="1" dirty="0">
                            <a:solidFill>
                              <a:srgbClr val="C00000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Courier New" panose="02070309020205020404" pitchFamily="49" charset="0"/>
                          </a:rPr>
                          <m:t>𝑠𝑒𝑞</m:t>
                        </m:r>
                      </m:sub>
                    </m:sSub>
                  </m:oMath>
                </a14:m>
                <a:r>
                  <a:rPr lang="en-US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700" b="1" dirty="0">
                            <a:solidFill>
                              <a:srgbClr val="C00000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Courier New" panose="02070309020205020404" pitchFamily="49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700" b="1" dirty="0">
                            <a:solidFill>
                              <a:srgbClr val="C00000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Courier New" panose="02070309020205020404" pitchFamily="49" charset="0"/>
                            <a:sym typeface="Symbol" panose="05050102010706020507" pitchFamily="18" charset="2"/>
                          </a:rPr>
                          <m:t>𝑘</m:t>
                        </m:r>
                        <m:r>
                          <a:rPr lang="en-US" sz="700" b="1" dirty="0">
                            <a:solidFill>
                              <a:srgbClr val="C00000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Courier New" panose="02070309020205020404" pitchFamily="49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sz="700" b="1" dirty="0">
                            <a:solidFill>
                              <a:srgbClr val="C00000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Courier New" panose="02070309020205020404" pitchFamily="49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  <m:sup>
                        <m:r>
                          <a:rPr lang="en-US" sz="700" b="1" dirty="0">
                            <a:solidFill>
                              <a:srgbClr val="C00000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Courier New" panose="02070309020205020404" pitchFamily="49" charset="0"/>
                            <a:sym typeface="Symbol" panose="05050102010706020507" pitchFamily="18" charset="2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700" b="1" dirty="0">
                                <a:solidFill>
                                  <a:srgbClr val="C00000"/>
                                </a:solidFill>
                                <a:latin typeface="微软雅黑" panose="020B0503020204020204" charset="-122"/>
                                <a:ea typeface="微软雅黑" panose="020B0503020204020204" charset="-122"/>
                                <a:cs typeface="Courier New" panose="02070309020205020404" pitchFamily="49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700" b="1" dirty="0">
                                <a:solidFill>
                                  <a:srgbClr val="C00000"/>
                                </a:solidFill>
                                <a:latin typeface="微软雅黑" panose="020B0503020204020204" charset="-122"/>
                                <a:ea typeface="微软雅黑" panose="020B0503020204020204" charset="-122"/>
                                <a:cs typeface="Courier New" panose="02070309020205020404" pitchFamily="49" charset="0"/>
                                <a:sym typeface="Symbol" panose="05050102010706020507" pitchFamily="18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sz="700" b="1" dirty="0">
                                <a:solidFill>
                                  <a:srgbClr val="C00000"/>
                                </a:solidFill>
                                <a:latin typeface="微软雅黑" panose="020B0503020204020204" charset="-122"/>
                                <a:ea typeface="微软雅黑" panose="020B0503020204020204" charset="-122"/>
                                <a:cs typeface="Courier New" panose="02070309020205020404" pitchFamily="49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sz="7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ourier New" panose="02070309020205020404" pitchFamily="49" charset="0"/>
                        <a:sym typeface="Symbol" panose="05050102010706020507" pitchFamily="18" charset="2"/>
                      </a:rPr>
                      <m:t> </m:t>
                    </m:r>
                  </m:oMath>
                </a14:m>
                <a:r>
                  <a:rPr lang="zh-CN" altLang="en-US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取所有指令的最长</a:t>
                </a:r>
                <a:r>
                  <a:rPr lang="zh-CN" altLang="en-US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总时间</a:t>
                </a:r>
                <a:endParaRPr lang="zh-CN" altLang="en-US" sz="7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indent="0">
                  <a:buSzPct val="100000"/>
                  <a:buFont typeface="Wingdings" panose="05000000000000000000" pitchFamily="2" charset="2"/>
                  <a:buNone/>
                </a:pPr>
                <a:r>
                  <a:rPr lang="en-US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I</a:t>
                </a:r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条指令的总执行时间</a:t>
                </a:r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:</a:t>
                </a:r>
                <a:endParaRPr lang="en-US" sz="700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indent="0">
                  <a:buSzPct val="100000"/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7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/>
                          </a:rPr>
                          <m:t>𝑇𝑖𝑚𝑒</m:t>
                        </m:r>
                      </m:e>
                      <m:sub>
                        <m:r>
                          <a:rPr lang="en-US" sz="7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/>
                          </a:rPr>
                          <m:t>𝑠𝑒𝑞</m:t>
                        </m:r>
                      </m:sub>
                    </m:sSub>
                  </m:oMath>
                </a14:m>
                <a:r>
                  <a:rPr lang="en-US" sz="700" dirty="0">
                    <a:solidFill>
                      <a:schemeClr val="accent1">
                        <a:lumMod val="75000"/>
                      </a:schemeClr>
                    </a:solidFill>
                    <a:sym typeface="+mn-ea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70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Cycles</m:t>
                    </m:r>
                    <m:r>
                      <a:rPr lang="en-US" sz="70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sz="70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r>
                      <a:rPr lang="en-US" sz="70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𝐶𝑦𝑐𝑙𝑒</m:t>
                    </m:r>
                    <m:r>
                      <m:rPr>
                        <m:sty m:val="p"/>
                      </m:rPr>
                      <a:rPr lang="en-US" sz="70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Time</m:t>
                    </m:r>
                    <m:r>
                      <a:rPr lang="en-US" sz="70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  </m:t>
                    </m:r>
                  </m:oMath>
                </a14:m>
                <a:endParaRPr lang="en-US" sz="700" i="0" smtClean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/>
                  <a:ea typeface="Cambria Math" panose="02040503050406030204"/>
                </a:endParaRPr>
              </a:p>
              <a:p>
                <a:pPr indent="0">
                  <a:buSzPct val="100000"/>
                  <a:buFont typeface="Wingdings" panose="05000000000000000000" pitchFamily="2" charset="2"/>
                  <a:buNone/>
                </a:pPr>
                <a:r>
                  <a:rPr lang="en-US" sz="700" smtClean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/>
                    <a:ea typeface="Cambria Math" panose="02040503050406030204"/>
                    <a:sym typeface="+mn-ea"/>
                  </a:rPr>
                  <a:t>                 </a:t>
                </a:r>
                <a:r>
                  <a:rPr lang="en-US" sz="700" dirty="0">
                    <a:solidFill>
                      <a:schemeClr val="accent1">
                        <a:lumMod val="75000"/>
                      </a:schemeClr>
                    </a:solidFill>
                    <a:ea typeface="Cambria Math" panose="02040503050406030204"/>
                    <a:sym typeface="+mn-ea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7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I</m:t>
                    </m:r>
                    <m:r>
                      <a:rPr lang="en-US" sz="7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sSub>
                      <m:sSubPr>
                        <m:ctrlPr>
                          <a:rPr lang="en-US" sz="7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sz="7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𝐶𝑇</m:t>
                        </m:r>
                      </m:e>
                      <m:sub>
                        <m:r>
                          <a:rPr lang="en-US" sz="7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𝑠𝑒𝑞</m:t>
                        </m:r>
                      </m:sub>
                    </m:sSub>
                    <m:r>
                      <a:rPr lang="en-US" sz="7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r>
                      <a:rPr lang="en-US" sz="7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𝐼</m:t>
                    </m:r>
                    <m:r>
                      <a:rPr lang="en-US" sz="7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nary>
                      <m:naryPr>
                        <m:chr m:val="∑"/>
                        <m:limLoc m:val="subSup"/>
                        <m:ctrlPr>
                          <a:rPr lang="en-US" sz="700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700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/>
                            <a:sym typeface="Symbol" panose="05050102010706020507" pitchFamily="18" charset="2"/>
                          </a:rPr>
                          <m:t>𝑘</m:t>
                        </m:r>
                        <m:r>
                          <a:rPr lang="en-US" sz="700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sz="700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/>
                            <a:sym typeface="Symbol" panose="05050102010706020507" pitchFamily="18" charset="2"/>
                          </a:rPr>
                          <m:t>1</m:t>
                        </m:r>
                      </m:sub>
                      <m:sup>
                        <m:r>
                          <a:rPr lang="en-US" sz="700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/>
                            <a:sym typeface="Symbol" panose="05050102010706020507" pitchFamily="18" charset="2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7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7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sz="7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sz="700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/>
                  <a:cs typeface="Cambria Math" panose="02040503050406030204"/>
                  <a:sym typeface="Symbol" panose="05050102010706020507" pitchFamily="18" charset="2"/>
                </a:endParaRPr>
              </a:p>
              <a:p>
                <a:pPr algn="l">
                  <a:buClrTx/>
                  <a:buSzTx/>
                  <a:buFontTx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70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0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70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= </a:t>
                </a:r>
                <a:r>
                  <a:rPr lang="zh-CN" altLang="en-US" sz="7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阶段</a:t>
                </a:r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k</a:t>
                </a:r>
                <a:r>
                  <a:rPr lang="zh-CN" altLang="en-US" sz="7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的操作时间</a:t>
                </a:r>
                <a:endParaRPr lang="en-US" sz="700" b="1" dirty="0">
                  <a:sym typeface="+mn-ea"/>
                </a:endParaRPr>
              </a:p>
              <a:p>
                <a:pPr algn="l">
                  <a:buClrTx/>
                  <a:buSzTx/>
                  <a:buFontTx/>
                </a:pPr>
                <a:r>
                  <a:rPr lang="en-US" sz="700" smtClean="0"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  <a:sym typeface="+mn-ea"/>
                  </a:rPr>
                  <a:t>N = </a:t>
                </a:r>
                <a:r>
                  <a:rPr lang="zh-CN" altLang="en-US" sz="700" smtClean="0"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  <a:sym typeface="+mn-ea"/>
                  </a:rPr>
                  <a:t>阶段数量</a:t>
                </a:r>
                <a:endParaRPr lang="en-US" sz="7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>
                  <a:buClrTx/>
                  <a:buSzTx/>
                  <a:buFontTx/>
                </a:pPr>
                <a:endParaRPr lang="en-US" sz="700" i="1" smtClean="0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algn="l"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</a:pPr>
                <a:r>
                  <a:rPr lang="en-US" sz="8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Multi-Cycle Processor: Performance</a:t>
                </a:r>
                <a:endParaRPr lang="en-US" sz="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l"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</a:pPr>
                <a:r>
                  <a:rPr lang="en-US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Cycle Time </a:t>
                </a:r>
                <a:r>
                  <a:rPr lang="en-US" altLang="zh-CN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= max(T</a:t>
                </a:r>
                <a:r>
                  <a:rPr lang="en-US" altLang="zh-CN" sz="700" b="1" baseline="-25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k</a:t>
                </a:r>
                <a:r>
                  <a:rPr lang="en-US" altLang="zh-CN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) </a:t>
                </a:r>
                <a:r>
                  <a:rPr lang="en-US" altLang="zh-CN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    </a:t>
                </a:r>
                <a:r>
                  <a:rPr lang="zh-CN" altLang="en-US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取</a:t>
                </a:r>
                <a:r>
                  <a:rPr lang="zh-CN" altLang="en-US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最长</a:t>
                </a:r>
                <a:r>
                  <a:rPr lang="en-US" altLang="zh-CN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stage</a:t>
                </a:r>
                <a:r>
                  <a:rPr lang="zh-CN" altLang="en-US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的</a:t>
                </a:r>
                <a:r>
                  <a:rPr lang="zh-CN" altLang="en-US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任务时间</a:t>
                </a:r>
                <a:endParaRPr lang="en-US" altLang="zh-CN" sz="7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Courier New" panose="02070309020205020404" pitchFamily="49" charset="0"/>
                  <a:sym typeface="+mn-ea"/>
                </a:endParaRPr>
              </a:p>
              <a:p>
                <a:pPr algn="l"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</a:pPr>
                <a:endParaRPr lang="en-US" sz="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l">
                  <a:buClrTx/>
                  <a:buSz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𝑇𝑖𝑚𝑒</m:t>
                        </m:r>
                      </m:e>
                      <m:sub>
                        <m:r>
                          <a:rPr lang="en-US" sz="800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𝑚𝑢𝑙𝑡𝑖</m:t>
                        </m:r>
                      </m:sub>
                    </m:sSub>
                  </m:oMath>
                </a14:m>
                <a:r>
                  <a:rPr lang="en-US" sz="800" i="1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sym typeface="+mn-ea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800" b="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Cycles</m:t>
                    </m:r>
                    <m:r>
                      <a:rPr lang="en-US" sz="800" b="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sz="800" b="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𝐶𝑦𝑐𝑙𝑒</m:t>
                    </m:r>
                    <m:r>
                      <m:rPr>
                        <m:sty m:val="p"/>
                      </m:rPr>
                      <a:rPr lang="en-US" sz="800" b="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Time</m:t>
                    </m:r>
                  </m:oMath>
                </a14:m>
                <a:endParaRPr lang="en-US" sz="800" b="0" i="1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lvl="1" algn="l">
                  <a:buClrTx/>
                  <a:buSzTx/>
                  <a:buNone/>
                </a:pPr>
                <a:r>
                  <a:rPr lang="en-US" sz="800" i="1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sym typeface="+mn-ea"/>
                  </a:rPr>
                  <a:t>                   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8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8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8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𝑨𝒗𝒆𝒓𝒂𝒈𝒆</m:t>
                    </m:r>
                    <m:r>
                      <a:rPr lang="en-US" sz="8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8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𝑪𝑷𝑰</m:t>
                    </m:r>
                    <m:r>
                      <a:rPr lang="en-US" sz="8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𝐶𝑇</m:t>
                        </m:r>
                      </m:e>
                      <m:sub>
                        <m:r>
                          <a:rPr lang="en-US" sz="800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𝑚𝑢𝑙𝑡𝑖</m:t>
                        </m:r>
                      </m:sub>
                    </m:sSub>
                  </m:oMath>
                </a14:m>
                <a:endParaRPr lang="en-US" sz="800" i="1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>
                  <a:buClrTx/>
                  <a:buSzTx/>
                  <a:buFontTx/>
                </a:pPr>
                <a14:m>
                  <m:oMath xmlns:m="http://schemas.openxmlformats.org/officeDocument/2006/math">
                    <m:r>
                      <a:rPr lang="en-US" sz="700" b="1" smtClean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𝐀𝐯𝐞𝐫𝐚𝐠𝐞</m:t>
                    </m:r>
                    <m:r>
                      <a:rPr lang="en-US" sz="700" b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sz="700" b="1" smtClean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𝐂𝐏𝐈</m:t>
                    </m:r>
                  </m:oMath>
                </a14:m>
                <a:r>
                  <a:rPr lang="en-US" sz="700" b="1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: </a:t>
                </a:r>
                <a:r>
                  <a:rPr lang="zh-CN" alt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每条指令的平均</a:t>
                </a:r>
                <a:r>
                  <a:rPr lang="zh-CN" altLang="en-US" sz="700" b="1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周期数</a:t>
                </a:r>
                <a:endParaRPr lang="zh-CN" altLang="en-US" sz="70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algn="l">
                  <a:buClrTx/>
                  <a:buSzTx/>
                  <a:buFontTx/>
                </a:pPr>
                <a:r>
                  <a:rPr lang="zh-CN" alt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我们需要</a:t>
                </a:r>
                <a14:m>
                  <m:oMath xmlns:m="http://schemas.openxmlformats.org/officeDocument/2006/math">
                    <m:r>
                      <a:rPr lang="en-US" sz="700" b="1" smtClean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𝐀𝐯𝐞𝐫𝐚𝐠𝐞</m:t>
                    </m:r>
                    <m:r>
                      <a:rPr lang="en-US" sz="700" b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sz="700" b="1" smtClean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𝐂𝐏𝐈</m:t>
                    </m:r>
                  </m:oMath>
                </a14:m>
                <a:r>
                  <a:rPr 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是因为多周期实施中每条指令所用的周期数（阶段数）不同</a:t>
                </a:r>
                <a:endParaRPr lang="en-US" sz="70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algn="l">
                  <a:buClrTx/>
                  <a:buSzTx/>
                  <a:buFontTx/>
                </a:pPr>
                <a:endParaRPr lang="en-US" sz="70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algn="l"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en-US" sz="8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Pipeline Processor: Performance</a:t>
                </a:r>
                <a:endParaRPr lang="en-US" sz="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en-US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Cycle Time</a:t>
                </a:r>
                <a:endParaRPr lang="en-US" sz="7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lvl="1" algn="l">
                  <a:spcBef>
                    <a:spcPts val="600"/>
                  </a:spcBef>
                  <a:buClrTx/>
                  <a:buSzTx/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pipeline</m:t>
                        </m:r>
                      </m:sub>
                    </m:sSub>
                  </m:oMath>
                </a14:m>
                <a:r>
                  <a:rPr lang="en-US" sz="800" i="1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sym typeface="+mn-ea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8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8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8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800" i="1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d</m:t>
                        </m:r>
                      </m:sub>
                    </m:sSub>
                  </m:oMath>
                </a14:m>
                <a:endParaRPr lang="en-US" sz="800" i="1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0" lvl="1" algn="l">
                  <a:spcBef>
                    <a:spcPts val="600"/>
                  </a:spcBef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Symbol" panose="05050102010706020507" pitchFamily="18" charset="2"/>
                  </a:rPr>
                  <a:t>Tk = </a:t>
                </a:r>
                <a:r>
                  <a:rPr lang="en-US" altLang="zh-CN" sz="7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max(T</a:t>
                </a:r>
                <a:r>
                  <a:rPr lang="en-US" altLang="zh-CN" sz="700" baseline="-25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k</a:t>
                </a:r>
                <a:r>
                  <a:rPr lang="en-US" altLang="zh-CN" sz="7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) </a:t>
                </a:r>
                <a:r>
                  <a:rPr lang="zh-CN" altLang="en-US" sz="7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最长</a:t>
                </a:r>
                <a:r>
                  <a:rPr lang="en-US" altLang="zh-CN" sz="7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stage</a:t>
                </a:r>
                <a:r>
                  <a:rPr lang="zh-CN" altLang="en-US" sz="7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的</a:t>
                </a:r>
                <a:r>
                  <a:rPr lang="zh-CN" alt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任务</a:t>
                </a:r>
                <a:r>
                  <a:rPr lang="zh-CN" altLang="en-US" sz="7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时间</a:t>
                </a:r>
                <a:endParaRPr lang="zh-CN" altLang="en-US" sz="7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endParaRPr>
              </a:p>
              <a:p>
                <a:pPr marL="0" lvl="1" algn="l">
                  <a:spcBef>
                    <a:spcPts val="600"/>
                  </a:spcBef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T</a:t>
                </a:r>
                <a:r>
                  <a:rPr lang="en-US" sz="700" baseline="-250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d</a:t>
                </a:r>
                <a:r>
                  <a:rPr 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= </a:t>
                </a:r>
                <a:r>
                  <a:rPr lang="zh-CN" altLang="en-US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所有流水线操作的综合</a:t>
                </a:r>
                <a:r>
                  <a:rPr lang="en-US" altLang="zh-CN" sz="700" smtClean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delay</a:t>
                </a:r>
                <a:endParaRPr lang="en-US" sz="70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lvl="1" algn="l">
                  <a:spcBef>
                    <a:spcPts val="600"/>
                  </a:spcBef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en-US" sz="7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I</a:t>
                </a:r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条指令的总周期数</a:t>
                </a:r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: C</a:t>
                </a:r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ycles = </a:t>
                </a:r>
                <a:r>
                  <a:rPr lang="en-US" sz="7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I</a:t>
                </a:r>
                <a:r>
                  <a:rPr lang="en-US" sz="700" b="1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+ N - 1</a:t>
                </a:r>
                <a:endParaRPr lang="en-US" sz="700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>
                  <a:buClrTx/>
                  <a:buSzTx/>
                  <a:buFontTx/>
                </a:pPr>
                <a:r>
                  <a:rPr lang="en-US" sz="7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Courier New" panose="02070309020205020404" pitchFamily="49" charset="0"/>
                    <a:sym typeface="+mn-ea"/>
                  </a:rPr>
                  <a:t>I</a:t>
                </a:r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条指令的总执行时间</a:t>
                </a:r>
                <a:r>
                  <a:rPr lang="en-US" sz="7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:</a:t>
                </a:r>
                <a:endParaRPr lang="en-US" altLang="zh-CN" sz="700" b="1" i="1" dirty="0">
                  <a:solidFill>
                    <a:srgbClr val="FF0000"/>
                  </a:solidFill>
                  <a:latin typeface="Cambria Math" panose="02040503050406030204"/>
                  <a:ea typeface="微软雅黑" panose="020B0503020204020204" charset="-122"/>
                  <a:sym typeface="+mn-ea"/>
                </a:endParaRPr>
              </a:p>
              <a:p>
                <a:pPr algn="l">
                  <a:buClrTx/>
                  <a:buSzTx/>
                  <a:buFontTx/>
                </a:pPr>
                <a:r>
                  <a:rPr lang="en-US" altLang="zh-CN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Time</a:t>
                </a:r>
                <a:r>
                  <a:rPr lang="en-US" altLang="zh-CN" sz="700" b="1" i="1" baseline="-25000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pipeline   </a:t>
                </a:r>
                <a:r>
                  <a:rPr lang="en-US" altLang="zh-CN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= Cycle</a:t>
                </a:r>
                <a:r>
                  <a:rPr lang="en-US" altLang="en-US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 </a:t>
                </a:r>
                <a:r>
                  <a:rPr lang="en-US" altLang="en-US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×</a:t>
                </a:r>
                <a:r>
                  <a:rPr lang="en-US" altLang="en-US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 </a:t>
                </a:r>
                <a:r>
                  <a:rPr lang="en-US" altLang="zh-CN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CT_pipeline</a:t>
                </a:r>
                <a:endParaRPr lang="en-US" altLang="zh-CN" sz="700" b="1" i="1" dirty="0">
                  <a:solidFill>
                    <a:srgbClr val="FF0000"/>
                  </a:solidFill>
                  <a:latin typeface="Cambria Math" panose="02040503050406030204"/>
                  <a:ea typeface="微软雅黑" panose="020B0503020204020204" charset="-122"/>
                  <a:sym typeface="Symbol" panose="05050102010706020507" pitchFamily="18" charset="2"/>
                </a:endParaRPr>
              </a:p>
              <a:p>
                <a:pPr algn="l">
                  <a:buClrTx/>
                  <a:buSzTx/>
                  <a:buFontTx/>
                </a:pPr>
                <a:r>
                  <a:rPr lang="en-US" altLang="zh-CN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                      = (I+N−1)</a:t>
                </a:r>
                <a:r>
                  <a:rPr lang="en-US" altLang="en-US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×</a:t>
                </a:r>
                <a:r>
                  <a:rPr lang="en-US" altLang="zh-CN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(</a:t>
                </a:r>
                <a:r>
                  <a:rPr lang="en-US" altLang="en-US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 </a:t>
                </a:r>
                <a:r>
                  <a:rPr lang="en-US" altLang="zh-CN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max(T_k)+</a:t>
                </a:r>
                <a:r>
                  <a:rPr lang="en-US" altLang="en-US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 </a:t>
                </a:r>
                <a:r>
                  <a:rPr lang="en-US" altLang="zh-CN" sz="700" b="1" i="1" dirty="0">
                    <a:solidFill>
                      <a:srgbClr val="FF0000"/>
                    </a:solidFill>
                    <a:latin typeface="Cambria Math" panose="02040503050406030204"/>
                    <a:ea typeface="微软雅黑" panose="020B0503020204020204" charset="-122"/>
                    <a:sym typeface="Symbol" panose="05050102010706020507" pitchFamily="18" charset="2"/>
                  </a:rPr>
                  <a:t>T_d)</a:t>
                </a:r>
                <a:endParaRPr lang="en-US" altLang="zh-CN" sz="700" b="1" i="1" dirty="0">
                  <a:solidFill>
                    <a:srgbClr val="FF0000"/>
                  </a:solidFill>
                  <a:latin typeface="Cambria Math" panose="02040503050406030204"/>
                  <a:ea typeface="微软雅黑" panose="020B0503020204020204" charset="-122"/>
                  <a:sym typeface="Symbol" panose="05050102010706020507" pitchFamily="18" charset="2"/>
                </a:endParaRPr>
              </a:p>
              <a:p>
                <a:pPr algn="l">
                  <a:buClrTx/>
                  <a:buSzTx/>
                  <a:buFontTx/>
                </a:pPr>
                <a:endParaRPr lang="zh-CN" altLang="en-US" sz="800" b="1" i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415" y="1965960"/>
                <a:ext cx="2663190" cy="346456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2685415" y="5328920"/>
            <a:ext cx="265049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Speed up</a:t>
            </a:r>
            <a:endParaRPr lang="en-US" altLang="zh-CN" sz="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理想状况下，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Pineline 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可为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Single Cycle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提供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倍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696210" y="5617210"/>
            <a:ext cx="2562225" cy="683260"/>
            <a:chOff x="4246" y="8846"/>
            <a:chExt cx="4035" cy="107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6" y="8846"/>
              <a:ext cx="3512" cy="52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20" y="9472"/>
              <a:ext cx="2436" cy="45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59" y="9441"/>
              <a:ext cx="1523" cy="438"/>
            </a:xfrm>
            <a:prstGeom prst="rect">
              <a:avLst/>
            </a:prstGeom>
          </p:spPr>
        </p:pic>
      </p:grpSp>
      <p:sp>
        <p:nvSpPr>
          <p:cNvPr id="19" name="文本框 18"/>
          <p:cNvSpPr txBox="1"/>
          <p:nvPr/>
        </p:nvSpPr>
        <p:spPr>
          <a:xfrm>
            <a:off x="5351780" y="19050"/>
            <a:ext cx="2667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Temporal locality: </a:t>
            </a:r>
            <a:r>
              <a:rPr lang="zh-CN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时间局部性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br>
              <a:rPr lang="en-US" altLang="zh-CN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程序可能多次访问相同的内存位置或附近的内存位置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Spatial locality: </a:t>
            </a: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空间局限性</a:t>
            </a:r>
            <a:endParaRPr lang="en-US" altLang="zh-CN" sz="7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程序访问的内存地址集中在某个较小的连续区域内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</a:rPr>
              <a:t>如何让缓慢的主内存显得更快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</a:rPr>
              <a:t>?</a:t>
            </a:r>
            <a:endParaRPr lang="en-US" altLang="zh-CN" sz="7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</a:rPr>
              <a:t>Cache –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</a:rPr>
              <a:t> a small but fast SRAM near CP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</a:rPr>
              <a:t>Hardware managed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</a:rPr>
              <a:t>-Transparent to programmer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</a:rPr>
              <a:t>如何让较小的主内存显得比实际更大？</a:t>
            </a:r>
            <a:endParaRPr lang="zh-CN" altLang="en-US" sz="7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</a:rPr>
              <a:t>Virtual memory &amp; OS managed: Transparent to programmer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Memory Access Terminology </a:t>
            </a:r>
            <a:r>
              <a:rPr lang="zh-CN" altLang="en-US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存储访问术语</a:t>
            </a:r>
            <a:endParaRPr lang="en-US" altLang="zh-CN" sz="8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Hit/</a:t>
            </a:r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Miss</a:t>
            </a:r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 Data is (</a:t>
            </a:r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not</a:t>
            </a:r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 in cache</a:t>
            </a:r>
            <a:endParaRPr lang="en-US" altLang="zh-CN" sz="700" b="1" dirty="0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Hit/</a:t>
            </a:r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Miss</a:t>
            </a:r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rate: </a:t>
            </a:r>
            <a:r>
              <a:rPr lang="zh-CN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内存访问命中的比例</a:t>
            </a:r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1-Hit rate</a:t>
            </a:r>
            <a:endParaRPr lang="zh-CN" altLang="zh-CN" sz="700" b="1" dirty="0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Hit time: </a:t>
            </a:r>
            <a:r>
              <a:rPr lang="zh-CN" altLang="en-US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访问内存所花时间</a:t>
            </a:r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(Access time)</a:t>
            </a:r>
            <a:endParaRPr lang="zh-CN" altLang="en-US" sz="700" b="1" dirty="0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Miss penalty: </a:t>
            </a:r>
            <a:r>
              <a:rPr lang="zh-CN" altLang="en-US" sz="7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Time to replace cache block + hit time</a:t>
            </a:r>
            <a:endParaRPr lang="zh-CN" altLang="en-US" sz="7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Average Access Time </a:t>
            </a:r>
            <a:r>
              <a:rPr lang="zh-CN" altLang="en-US" sz="7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平均访问时间</a:t>
            </a:r>
            <a:endParaRPr lang="zh-CN" altLang="en-US" sz="7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AAT</a:t>
            </a:r>
            <a:r>
              <a:rPr lang="en-US" altLang="zh-CN" sz="7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= </a:t>
            </a:r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Hit rate x Hit time + </a:t>
            </a:r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(1-Hit rate) x</a:t>
            </a:r>
            <a:r>
              <a:rPr lang="en-US" altLang="zh-CN" sz="7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Miss penalty</a:t>
            </a:r>
            <a:endParaRPr lang="en-US"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8920" y="6776720"/>
            <a:ext cx="2324100" cy="687705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5374005" y="2200910"/>
            <a:ext cx="2597785" cy="410210"/>
            <a:chOff x="8463" y="3466"/>
            <a:chExt cx="4091" cy="646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092" y="3466"/>
              <a:ext cx="1462" cy="646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463" y="3539"/>
              <a:ext cx="2540" cy="501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5341620" y="1892935"/>
            <a:ext cx="267144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sz="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Memory to Cache Mapping</a:t>
            </a:r>
            <a:endParaRPr lang="en-US" altLang="zh-CN" sz="8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352415" y="2029460"/>
            <a:ext cx="267144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Memory </a:t>
            </a:r>
            <a:r>
              <a:rPr lang="en-US" altLang="en-GB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Organization</a:t>
            </a:r>
            <a:r>
              <a:rPr lang="en-US" altLang="en-GB" sz="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en-GB" sz="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360035" y="2611120"/>
            <a:ext cx="26714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Bits [31:N]   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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 number </a:t>
            </a:r>
            <a:endParaRPr lang="en-US" sz="7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Bits [N-1:0]  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 </a:t>
            </a:r>
            <a:r>
              <a:rPr 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yte offset </a:t>
            </a:r>
            <a:r>
              <a:rPr 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within a block</a:t>
            </a:r>
            <a:endParaRPr lang="en-US" sz="7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6065" y="2861310"/>
            <a:ext cx="266827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Direct Mapped Cache</a:t>
            </a:r>
            <a:r>
              <a:rPr lang="en-US" altLang="en-GB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直接映射缓存</a:t>
            </a:r>
            <a:endParaRPr 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en-GB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映射方法</a:t>
            </a:r>
            <a:endParaRPr lang="en-US" altLang="en-GB" sz="7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672715" y="6273165"/>
            <a:ext cx="2668905" cy="660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Cache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缓存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sz="7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 SDRAM</a:t>
            </a:r>
            <a:endParaRPr lang="en-US" sz="7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ouble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ata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ate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ynchronous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</a:t>
            </a:r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ynamic </a:t>
            </a:r>
            <a:r>
              <a:rPr lang="en-US" sz="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RAM</a:t>
            </a:r>
            <a:endParaRPr lang="en-US" sz="7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在时钟的上升沿和下降沿传递数据（双倍速率）</a:t>
            </a:r>
            <a:endParaRPr lang="en-US"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en-US" sz="7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971790" y="3175"/>
            <a:ext cx="246126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sym typeface="+mn-ea"/>
              </a:rPr>
              <a:t>Operating System</a:t>
            </a:r>
            <a:endParaRPr lang="en-US" altLang="zh-CN" sz="900" b="1">
              <a:solidFill>
                <a:srgbClr val="FF0000"/>
              </a:solidFill>
              <a:latin typeface="+mn-ea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971790" y="167005"/>
            <a:ext cx="26644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Operating System </a:t>
            </a:r>
            <a:r>
              <a:rPr lang="en-US" altLang="en-US" sz="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 </a:t>
            </a:r>
            <a:r>
              <a:rPr lang="en-US" altLang="en-US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suite of specialized software</a:t>
            </a:r>
            <a:r>
              <a:rPr lang="en-US" altLang="en-US" sz="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en-US" sz="7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lang="zh-CN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让你能够访问硬件设备</a:t>
            </a:r>
            <a:br>
              <a:rPr lang="en-US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控制并分配内存和处理器时间等系统资源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为您提供定制化和优化系统的工具</a:t>
            </a:r>
            <a:r>
              <a:rPr lang="en-US" altLang="zh-CN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 </a:t>
            </a:r>
            <a:endParaRPr lang="zh-CN" altLang="en-US" sz="7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973695" y="622300"/>
            <a:ext cx="266255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 Components of Operating System: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en-US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Bootloader, Kernel, System Programs</a:t>
            </a:r>
            <a:endParaRPr lang="en-US" altLang="en-US" sz="700" b="1" dirty="0">
              <a:solidFill>
                <a:srgbClr val="00339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启动引导程序，内核，系统进程</a:t>
            </a:r>
            <a:r>
              <a:rPr lang="en-US" altLang="en-US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7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954010" y="2009775"/>
            <a:ext cx="2663825" cy="753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2" defTabSz="457200" eaLnBrk="1" hangingPunct="1">
              <a:buSzPct val="100000"/>
              <a:tabLst>
                <a:tab pos="0" algn="l"/>
                <a:tab pos="1012825" algn="l"/>
                <a:tab pos="2027555" algn="l"/>
                <a:tab pos="3041650" algn="l"/>
                <a:tab pos="4056380" algn="l"/>
                <a:tab pos="5070475" algn="l"/>
                <a:tab pos="6085205" algn="l"/>
                <a:tab pos="7099300" algn="l"/>
                <a:tab pos="8114030" algn="l"/>
                <a:tab pos="9128125" algn="l"/>
                <a:tab pos="10142855" algn="l"/>
              </a:tabLst>
            </a:pP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Monolithic Kernels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宏内核</a:t>
            </a:r>
            <a:b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7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操作系统的所有主要组件</a:t>
            </a:r>
            <a:r>
              <a:rPr lang="en-US" altLang="zh-CN" sz="7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——</a:t>
            </a:r>
            <a:r>
              <a:rPr lang="zh-CN" altLang="en-US" sz="7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设备驱动程序、文件系统、进程间通信等都运行在</a:t>
            </a:r>
            <a:r>
              <a:rPr lang="en-US" altLang="zh-CN" sz="7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“</a:t>
            </a:r>
            <a:r>
              <a:rPr lang="zh-CN" altLang="en-US" sz="7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内核空间</a:t>
            </a:r>
            <a:r>
              <a:rPr lang="en-US" altLang="zh-CN" sz="7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”</a:t>
            </a:r>
            <a:r>
              <a:rPr lang="zh-CN" altLang="en-US" sz="7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中。</a:t>
            </a:r>
            <a:r>
              <a:rPr lang="en-US" altLang="zh-CN" sz="70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“</a:t>
            </a:r>
            <a:r>
              <a:rPr lang="zh-CN" altLang="en-US" sz="70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内核空间</a:t>
            </a:r>
            <a:r>
              <a:rPr lang="en-US" altLang="zh-CN" sz="70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”</a:t>
            </a:r>
            <a:r>
              <a:rPr lang="zh-CN" altLang="en-US" sz="70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通常意味着一种具有更高权限的执行模式，允许进行某些特权操作。</a:t>
            </a:r>
            <a:r>
              <a:rPr lang="zh-CN" altLang="en-US" sz="700" b="1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S PGothic" panose="020B0600070205080204" pitchFamily="32" charset="-128"/>
                <a:sym typeface="+mn-ea"/>
              </a:rPr>
              <a:t>内核的部分文件可以在运行时加载和卸载</a:t>
            </a:r>
            <a:endParaRPr lang="zh-CN" altLang="en-US" sz="70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MS PGothic" panose="020B0600070205080204" pitchFamily="32" charset="-128"/>
              <a:sym typeface="+mn-ea"/>
            </a:endParaRPr>
          </a:p>
          <a:p>
            <a:pPr defTabSz="457200" eaLnBrk="1" hangingPunct="1">
              <a:buSzPct val="100000"/>
              <a:tabLst>
                <a:tab pos="0" algn="l"/>
                <a:tab pos="1012825" algn="l"/>
                <a:tab pos="2027555" algn="l"/>
                <a:tab pos="3041650" algn="l"/>
                <a:tab pos="4056380" algn="l"/>
                <a:tab pos="5070475" algn="l"/>
                <a:tab pos="6085205" algn="l"/>
                <a:tab pos="7099300" algn="l"/>
                <a:tab pos="8114030" algn="l"/>
                <a:tab pos="9128125" algn="l"/>
                <a:tab pos="10142855" algn="l"/>
              </a:tabLst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宏内核操作系统：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Linux, M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icroSoft Windows</a:t>
            </a:r>
            <a:endParaRPr lang="en-US" altLang="zh-CN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967345" y="2729865"/>
            <a:ext cx="266827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2" defTabSz="457200" eaLnBrk="1" hangingPunct="1">
              <a:buSzPct val="100000"/>
              <a:tabLst>
                <a:tab pos="0" algn="l"/>
                <a:tab pos="1012825" algn="l"/>
                <a:tab pos="2027555" algn="l"/>
                <a:tab pos="3041650" algn="l"/>
                <a:tab pos="4056380" algn="l"/>
                <a:tab pos="5070475" algn="l"/>
                <a:tab pos="6085205" algn="l"/>
                <a:tab pos="7099300" algn="l"/>
                <a:tab pos="8114030" algn="l"/>
                <a:tab pos="9128125" algn="l"/>
                <a:tab pos="10142855" algn="l"/>
              </a:tabLst>
            </a:pP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Micro-kernels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微内核</a:t>
            </a:r>
            <a:b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只有内核的</a:t>
            </a:r>
            <a:r>
              <a:rPr lang="en-US" altLang="zh-CN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</a:t>
            </a:r>
            <a:r>
              <a:rPr lang="en-US" altLang="zh-CN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部分位于</a:t>
            </a:r>
            <a:r>
              <a:rPr lang="en-US" altLang="zh-CN" sz="700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kernel Space</a:t>
            </a:r>
            <a:r>
              <a:rPr lang="en-US" altLang="zh-CN" sz="700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700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，包含</a:t>
            </a:r>
            <a:r>
              <a:rPr lang="zh-CN" altLang="en-US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调度器、进程管理、内存管理</a:t>
            </a:r>
            <a:r>
              <a:rPr lang="zh-CN" altLang="en-US" sz="700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等重要组件。</a:t>
            </a:r>
            <a:endParaRPr lang="zh-CN" altLang="en-US" sz="700" dirty="0">
              <a:solidFill>
                <a:srgbClr val="003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defTabSz="457200" eaLnBrk="1" hangingPunct="1">
              <a:buSzPct val="100000"/>
              <a:tabLst>
                <a:tab pos="0" algn="l"/>
                <a:tab pos="1012825" algn="l"/>
                <a:tab pos="2027555" algn="l"/>
                <a:tab pos="3041650" algn="l"/>
                <a:tab pos="4056380" algn="l"/>
                <a:tab pos="5070475" algn="l"/>
                <a:tab pos="6085205" algn="l"/>
                <a:tab pos="7099300" algn="l"/>
                <a:tab pos="8114030" algn="l"/>
                <a:tab pos="9128125" algn="l"/>
                <a:tab pos="10142855" algn="l"/>
              </a:tabLst>
            </a:pPr>
            <a:r>
              <a:rPr lang="zh-CN" altLang="en-US" sz="700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其余部分作为系统服务运行在</a:t>
            </a:r>
            <a:r>
              <a:rPr lang="en-US" altLang="zh-CN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“User</a:t>
            </a:r>
            <a:r>
              <a:rPr lang="en-US" altLang="zh-CN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Space</a:t>
            </a:r>
            <a:r>
              <a:rPr lang="en-US" altLang="zh-CN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700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：如</a:t>
            </a:r>
            <a:r>
              <a:rPr lang="zh-CN" altLang="en-US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文件系统、</a:t>
            </a:r>
            <a:r>
              <a:rPr lang="en-US" altLang="zh-CN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USB</a:t>
            </a:r>
            <a:r>
              <a:rPr lang="zh-CN" altLang="en-US" sz="7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设备驱动</a:t>
            </a:r>
            <a:r>
              <a:rPr lang="zh-CN" altLang="en-US" sz="700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</a:t>
            </a:r>
            <a:endParaRPr lang="zh-CN" altLang="en-US" sz="700" dirty="0">
              <a:solidFill>
                <a:srgbClr val="003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defTabSz="457200" eaLnBrk="1" hangingPunct="1">
              <a:buSzPct val="100000"/>
              <a:tabLst>
                <a:tab pos="0" algn="l"/>
                <a:tab pos="1012825" algn="l"/>
                <a:tab pos="2027555" algn="l"/>
                <a:tab pos="3041650" algn="l"/>
                <a:tab pos="4056380" algn="l"/>
                <a:tab pos="5070475" algn="l"/>
                <a:tab pos="6085205" algn="l"/>
                <a:tab pos="7099300" algn="l"/>
                <a:tab pos="8114030" algn="l"/>
                <a:tab pos="9128125" algn="l"/>
                <a:tab pos="10142855" algn="l"/>
              </a:tabLst>
            </a:pPr>
            <a:r>
              <a:rPr lang="zh-CN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宏内核</a:t>
            </a:r>
            <a:r>
              <a:rPr lang="zh-CN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中，所有服务调用都只是简单的</a:t>
            </a: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函数调用，速度极快</a:t>
            </a:r>
            <a:r>
              <a:rPr lang="zh-CN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。但在</a:t>
            </a: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微内核中，进程管理、文件访问、驱动操作等服务调用都需要通过进程间通信</a:t>
            </a:r>
            <a:r>
              <a:rPr lang="zh-CN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IPC</a:t>
            </a:r>
            <a:r>
              <a:rPr lang="zh-CN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），这意味着多次用户态</a:t>
            </a:r>
            <a:r>
              <a:rPr lang="en-US" altLang="zh-CN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7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内核态切换和数据复制，导致其性能通常低于同等功能的宏内核系统。</a:t>
            </a:r>
            <a:r>
              <a:rPr lang="en-US" altLang="en-US" sz="7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en-US" sz="700" b="1" dirty="0">
              <a:solidFill>
                <a:schemeClr val="accent3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971155" y="3746500"/>
            <a:ext cx="266446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57200" eaLnBrk="1" hangingPunct="1">
              <a:buSzPct val="100000"/>
              <a:tabLst>
                <a:tab pos="0" algn="l"/>
                <a:tab pos="1012825" algn="l"/>
                <a:tab pos="2027555" algn="l"/>
                <a:tab pos="3041650" algn="l"/>
                <a:tab pos="4056380" algn="l"/>
                <a:tab pos="5070475" algn="l"/>
                <a:tab pos="6085205" algn="l"/>
                <a:tab pos="7099300" algn="l"/>
                <a:tab pos="8114030" algn="l"/>
                <a:tab pos="9128125" algn="l"/>
                <a:tab pos="10142855" algn="l"/>
              </a:tabLst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System Calls 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系统调用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457200" eaLnBrk="1" hangingPunct="1">
              <a:buSzPct val="100000"/>
              <a:tabLst>
                <a:tab pos="0" algn="l"/>
                <a:tab pos="1012825" algn="l"/>
                <a:tab pos="2027555" algn="l"/>
                <a:tab pos="3041650" algn="l"/>
                <a:tab pos="4056380" algn="l"/>
                <a:tab pos="5070475" algn="l"/>
                <a:tab pos="6085205" algn="l"/>
                <a:tab pos="7099300" algn="l"/>
                <a:tab pos="8114030" algn="l"/>
                <a:tab pos="9128125" algn="l"/>
                <a:tab pos="10142855" algn="l"/>
              </a:tabLst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系统调用是指向操作系统的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应用程序接口发起的调用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449435" y="920750"/>
            <a:ext cx="13354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Bootstrap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自举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操作系统的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过程：</a:t>
            </a:r>
            <a:endParaRPr lang="en-US" altLang="zh-CN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spcBef>
                <a:spcPct val="0"/>
              </a:spcBef>
              <a:buAutoNum type="arabicPeriod"/>
            </a:pP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加载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固件（BIOS/UEFI） </a:t>
            </a:r>
            <a:endParaRPr 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spcBef>
                <a:spcPct val="0"/>
              </a:spcBef>
              <a:buNone/>
            </a:pP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 引导加载程序</a:t>
            </a:r>
            <a:endParaRPr 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spcBef>
                <a:spcPct val="0"/>
              </a:spcBef>
              <a:buNone/>
            </a:pP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Bootloader/GRUB </a:t>
            </a:r>
            <a:endParaRPr 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spcBef>
                <a:spcPct val="0"/>
              </a:spcBef>
              <a:buNone/>
            </a:pP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加载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内核（Kernel）</a:t>
            </a:r>
            <a:endParaRPr 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spcBef>
                <a:spcPct val="0"/>
              </a:spcBef>
              <a:buNone/>
            </a:pP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 初始化进程（Init）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spcBef>
                <a:spcPct val="0"/>
              </a:spcBef>
              <a:buNone/>
            </a:pP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5.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系统服务和用户环境</a:t>
            </a:r>
            <a:endParaRPr 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spcBef>
                <a:spcPct val="0"/>
              </a:spcBef>
              <a:buNone/>
            </a:pP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6. Shell(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命令行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)/GUI。</a:t>
            </a:r>
            <a:endParaRPr lang="en-US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964170" y="4031615"/>
            <a:ext cx="266128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457200">
              <a:buClrTx/>
              <a:buSzTx/>
              <a:buFontTx/>
              <a:tabLst>
                <a:tab pos="0" algn="l"/>
                <a:tab pos="1012825" algn="l"/>
                <a:tab pos="2027555" algn="l"/>
                <a:tab pos="3041650" algn="l"/>
                <a:tab pos="4056380" algn="l"/>
                <a:tab pos="5070475" algn="l"/>
                <a:tab pos="6085205" algn="l"/>
                <a:tab pos="7099300" algn="l"/>
                <a:tab pos="8114030" algn="l"/>
                <a:tab pos="9128125" algn="l"/>
                <a:tab pos="10142855" algn="l"/>
              </a:tabLst>
            </a:pP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Process States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/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Running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运行态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Ready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就绪态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Blocked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阻塞态</a:t>
            </a:r>
            <a:endParaRPr lang="en-US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545" y="4319270"/>
            <a:ext cx="2348865" cy="10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文本框 47"/>
          <p:cNvSpPr txBox="1"/>
          <p:nvPr/>
        </p:nvSpPr>
        <p:spPr>
          <a:xfrm>
            <a:off x="7973695" y="5321935"/>
            <a:ext cx="2691765" cy="1276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2"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 Control Blocks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进程控制块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PCB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存储在一个名为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 Table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进程表的表格中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 Control Block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包含: 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 ID (PID)进程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, Stack Pointer堆栈指针, Open files打开文件记录, Pending signals等待信号, CPU usage, 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etc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...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2"/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一个进程终止时，诸如打开的文件等大多数资源都可以被释放并归还给系统。但进程控制块（PCB）会保留在内存中，这使得子进程能够向父进程返回结果。如果父进程从不调用“wait”函数，进程控制块（PCB）将永远驻留在内存中，子进程则沦为“僵尸进程”。最终进程表空间耗尽，导致无法创建新进程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964170" y="6425565"/>
            <a:ext cx="2757805" cy="1030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Multitaskers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多任务处理器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/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Batch Processing(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批处理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): Not actually multitasking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/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因为每次只有一个进程能运行至完成。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/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Co-operative Multitasking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（协作多任务）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Currently running processes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cannot be suspended by the scheduler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Processes must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volunteer to give up CPU time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/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Pre-emptive Multitasking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（抢占式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多任务）：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Currently running processes can be forcefully suspended by the scheduler.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en-US" altLang="zh-CN" sz="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333365" y="4770120"/>
            <a:ext cx="271018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Set Associative Cache</a:t>
            </a:r>
            <a:r>
              <a:rPr lang="en-US" altLang="en-GB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组相联缓存</a:t>
            </a:r>
            <a:endParaRPr lang="zh-CN" alt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en-GB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映射方法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与直接映射相同，仅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block index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被替换为了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set index</a:t>
            </a:r>
            <a:endParaRPr lang="en-US" altLang="zh-CN" sz="7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14"/>
          <a:srcRect b="43988"/>
          <a:stretch>
            <a:fillRect/>
          </a:stretch>
        </p:blipFill>
        <p:spPr>
          <a:xfrm>
            <a:off x="5374640" y="4157980"/>
            <a:ext cx="2619375" cy="601980"/>
          </a:xfrm>
          <a:prstGeom prst="rect">
            <a:avLst/>
          </a:prstGeom>
        </p:spPr>
      </p:pic>
      <p:pic>
        <p:nvPicPr>
          <p:cNvPr id="165" name="图片 1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80075" y="5062855"/>
            <a:ext cx="1862455" cy="567690"/>
          </a:xfrm>
          <a:prstGeom prst="rect">
            <a:avLst/>
          </a:prstGeom>
        </p:spPr>
      </p:pic>
      <p:sp>
        <p:nvSpPr>
          <p:cNvPr id="166" name="文本框 165"/>
          <p:cNvSpPr txBox="1"/>
          <p:nvPr/>
        </p:nvSpPr>
        <p:spPr>
          <a:xfrm>
            <a:off x="5326380" y="5650865"/>
            <a:ext cx="27178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</a:t>
            </a:r>
            <a:r>
              <a:rPr lang="en-US" altLang="zh-CN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ully Associative Cache</a:t>
            </a:r>
            <a:r>
              <a:rPr lang="en-US" altLang="en-GB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全相联缓存</a:t>
            </a:r>
            <a:endParaRPr lang="zh-CN" alt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block 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只由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Tag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索引无需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index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offset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计算方法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不变</a:t>
            </a:r>
            <a:endParaRPr lang="zh-CN" altLang="en-US" sz="7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全相联缓存没有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Conflict miss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，只有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Cold Miss </a:t>
            </a:r>
            <a:r>
              <a:rPr lang="zh-CN" altLang="en-US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C</a:t>
            </a:r>
            <a:r>
              <a:rPr lang="en-US" altLang="zh-CN" sz="7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apacity Miss</a:t>
            </a:r>
            <a:endParaRPr lang="en-US" altLang="zh-CN" sz="7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5311775" y="6233160"/>
            <a:ext cx="2681605" cy="1183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Block Replacement Policy </a:t>
            </a:r>
            <a:r>
              <a:rPr lang="zh-CN" alt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块替换</a:t>
            </a:r>
            <a:r>
              <a:rPr lang="zh-CN" altLang="en-US" sz="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策略</a:t>
            </a:r>
            <a:endParaRPr lang="zh-CN" altLang="en-US" sz="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Least Recently Used (LRU)</a:t>
            </a:r>
            <a:endParaRPr lang="zh-CN" altLang="en-US" sz="7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当缓存命中时，记录被访问的缓存块；在替换块时，选择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最久未被访问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的块。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Drawback for LRU：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Hard to keep track if there are many choices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Other replacement policies: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First in first out (FIFO)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Random replacement (RR)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Least frequently used (LFU)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/>
          <p:nvPr/>
        </p:nvSpPr>
        <p:spPr>
          <a:xfrm>
            <a:off x="-2951000" y="-316293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447115" y="-316293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-2951000" y="9847585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2447115" y="9847585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346000" y="0"/>
            <a:ext cx="0" cy="75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028000" y="0"/>
            <a:ext cx="0" cy="75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17780" y="62865"/>
            <a:ext cx="2642235" cy="746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2" algn="l">
              <a:buClrTx/>
              <a:buSzTx/>
              <a:buFontTx/>
            </a:pP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-2540" y="38735"/>
            <a:ext cx="2710815" cy="1231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Scheduling Policies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调度策略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/>
            <a:r>
              <a:rPr 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Simplest Policy(all multitaskers): 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Fixed Priority</a:t>
            </a:r>
            <a:endParaRPr 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/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Batch Processing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批处理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处理器类型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/>
            <a:r>
              <a:rPr lang="en-US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First-come First Served (FCFS)</a:t>
            </a:r>
            <a:r>
              <a:rPr lang="zh-CN" altLang="en-US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Shortest Job First (SJF)</a:t>
            </a:r>
            <a:endParaRPr lang="en-US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/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Co-operative Multitaskers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协作多任务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处理器类型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endParaRPr lang="en-US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/>
            <a:r>
              <a:rPr lang="en-US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Round Robin with Voluntary Scheduling (VS)</a:t>
            </a:r>
            <a:endParaRPr lang="en-US" sz="7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/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Pre-emptive Multitaskers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抢占式多任务类型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 </a:t>
            </a:r>
            <a:endParaRPr lang="en-US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/>
            <a:r>
              <a:rPr lang="en-US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Round Robin with Timer (RR), </a:t>
            </a:r>
            <a:r>
              <a:rPr lang="en-US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Shortest Remaining Time (SRT)</a:t>
            </a:r>
            <a:endParaRPr lang="en-US" sz="7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10795" y="1066165"/>
            <a:ext cx="2689860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2"/>
            <a:r>
              <a:rPr 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Fixed Priority Policy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固定优先级</a:t>
            </a:r>
            <a:endParaRPr 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/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每个任务都由程序员分配优先级，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通常优先级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为最高优先级。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对于批量处理、协作式调度，</a:t>
            </a:r>
            <a:r>
              <a:rPr lang="zh-CN" altLang="en-US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优先级最高的任务将被选取为下一个运行对象。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抢占式，实时调度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，当更高优先级的任务准备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就绪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当前任务会被挂起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，转而运行更高优先级的任务。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/>
            <a:r>
              <a:rPr 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First Come First Served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FCFS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先到先服务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endParaRPr 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2"/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到达的jobs被存储在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Queue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中,按顺序取出并运行,特别适用于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批处理系统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2"/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针对交互式系统的扩展：被取出运行的作业会重新放回队列末尾。这种方式也被称为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round-robin scheduling(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轮转调度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 只要</a:t>
            </a:r>
            <a:r>
              <a:rPr lang="en-US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早期作业有界，就不会出现饥饿现象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2"/>
            <a:r>
              <a:rPr 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Shortest Job First (SJF） 最短作业优先</a:t>
            </a:r>
            <a:endParaRPr 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/>
            <a:r>
              <a:rPr 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按进程占用CPU总时长排序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。运行时间较短的作业将优先执行。在进程数量固定的情况下可降低平均等待时间。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可能导致进程饥饿现象。</a:t>
            </a:r>
            <a:endParaRPr lang="en-US" sz="7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2" algn="l">
              <a:buClrTx/>
              <a:buSzTx/>
              <a:buFontTx/>
            </a:pPr>
            <a:r>
              <a:rPr 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Voluntary Scheduling （VS）自愿调度</a:t>
            </a:r>
            <a:endParaRPr 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/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调用特殊的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“yield”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。这会触发调度器。导致当前进程被挂起，同时启动另一个进程。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在许多系统中，VS采用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round-robin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轮询调度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机制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进行部署。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Shortest Remaining Time（SRT）最短剩余时间</a:t>
            </a:r>
            <a:endParaRPr 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短作业优先策略的抢占式形式。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进程仍然按照剩余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时间排序。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Round-Robin with Timer 带计时器的轮询调度</a:t>
            </a:r>
            <a:endParaRPr 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zh-CN" altLang="en-US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每个进程被分配固定的时间片ci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。当时间片ci耗尽后，调度程序将被调用，并通过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轮询方式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选择下一个任务。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任务调度表头：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Time; running; IO; ready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8255" y="3989070"/>
            <a:ext cx="2716530" cy="3553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Scheduling in Linux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Linux中的进程具有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动态特性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：可通过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fork()创建新进程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，现有进程也可退出。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优先级同样具备动态调整机制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sz="7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fork()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系统调用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的核心功能是复制父进程。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子进程会继承父进程地址空间的一个副本，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fork()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返回时，子进程的变量（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堆栈中的局部变量和数据段中的全局变量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）将包含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与父进程调用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fork()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时完全相同的值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，而不是被重新初始化或包含未知值。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Linux系统维护三种进程类型：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b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实时先进先出（RT-FIFO）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：除更高优先级的RT-FIFO进程外，RT-FIFO进程不可被抢占。 </a:t>
            </a:r>
            <a:b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实时轮转调度（RT-Round-Robin）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：类似RT-FIFO，但进程在时间片耗尽后会被抢占。</a:t>
            </a:r>
            <a:b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Linux仅采用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"软实时"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调度机制，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无法像先前讨论的RMS和EDF算法那样保证截止时间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。 </a:t>
            </a:r>
            <a:endParaRPr 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优先级划分：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0-99级-实时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进程优先级区间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r>
              <a:rPr 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100-139级-非实时</a:t>
            </a:r>
            <a:r>
              <a:rPr 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进程优先级区间</a:t>
            </a:r>
            <a:endParaRPr 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维护着两组，共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280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个队列：一组活跃队列（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140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个）和一组过期队列（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140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个）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Scheduler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调度器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1000Hz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的频率被调用，即时间刻度为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毫秒，称为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“jiffy”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实时先进先出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在可用时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总是优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先运行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否则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：调度器会从活动集合中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选取优先级最高的进程运行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。当其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时间配额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耗尽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时，该进程会被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移至过期集合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。接着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选取次高优先级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的进程。当活动集合为空时，活动指针与过期指针会进行交换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活动集合转变为过期集合，反之亦然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该机制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确保最低优先级进程不会陷入饥饿状态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Q: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当一个进程被阻塞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Blocked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时会发生什么？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A: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已使用的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时间会被记录。该进程会被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移至阻塞进程队列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。当进程再次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变为可运行状态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时，它会继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续运行直到其时间片耗尽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。随后它会被移至过期集合。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进程被阻塞时，其优先级通常会得到提升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轮转调度进程的时间量子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：随优先级变化。例如：优先级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100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级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——800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毫秒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;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优先级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139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级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——5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毫秒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653665" y="1130300"/>
            <a:ext cx="267144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Inter-Process Communication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进程间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通信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70810" y="1300480"/>
            <a:ext cx="2675255" cy="753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Race Conditions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竞态条件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当两个或更多进程试图访问共享存储时，就会发生竞</a:t>
            </a:r>
            <a:r>
              <a:rPr lang="zh-CN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争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条件。这将导致最终结果取决于谁先运行。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共享存储：Global variables全局变量、Memory Locations内存位置、Hardware registers硬件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配置）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寄存器以及Files data </a:t>
            </a:r>
            <a:r>
              <a:rPr lang="zh-CN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文件数据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649220" y="17780"/>
            <a:ext cx="2715895" cy="1276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进程优先级计算方式：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优先级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基准值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+f(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进程友好值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) + g(CPU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使用率估算值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) 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f(.) =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来自进程友好值的优先级调整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g(.) =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衰减函数。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已消耗大量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时间的进程会被降级。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其他启发式策略包括：进程年龄、为等待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的进程赋予更高优先级（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加速机制）、对前台任务的偏好。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加速依据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：执行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read()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操作的任务已等待较长时间，就绪时可能需要快速响应。被阻塞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等待的进程尚未充分运行。该机制同样适用于交互式进程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被键盘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鼠标输入阻塞的情况。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如何进行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增加时间配额及提升优先级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58110" y="1969135"/>
            <a:ext cx="2747010" cy="3584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Critical Sections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临界区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为防止竞态条件，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必须阻止两个进程同时读写共享资源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机制称为"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mutual exclusion互斥锁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"，简称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"mutex"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。当运行中的进程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读写全局变量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时，即进入其"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Critical sections临界区"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4 rules to prevent race conditions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任何两个进程不得同时处于其临界区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不可对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速度或数量做出假设（注：大多数嵌入式系统可放宽此假设，因其采用单核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，可能适用于多核微控制器的系统）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非临界区进程不得阻塞其他进程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任何进程都不应无限期等待进入其临界区。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Test and Set Lock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测试并上锁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为防止竞态条件，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必须阻止两个进程同时读写共享资源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机制称为"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mutual exclusion互斥锁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"，简称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"mutex"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。当运行中的进程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读写全局变量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时，即进入其"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Critical sections临界区"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4 rules to prevent race conditions</a:t>
            </a:r>
            <a:endParaRPr lang="en-US" altLang="zh-CN" sz="7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任何两个进程不得同时处于其临界区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不可对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速度或数量做出假设（注：大多数嵌入式系统可放宽此假设，因其采用单核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，但可能适用于使用多核微控制器的系统）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非临界区进程不得阻塞其他进程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任何进程都不应无限期等待进入其临界区。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TSL register &amp; Lock varieables</a:t>
            </a:r>
            <a:endParaRPr lang="en-US" altLang="zh-CN" sz="7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锁变量是内存中的一个变量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其工作原理如下：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 CPU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锁定地址总线和数据总线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从内存中读取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锁变量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的值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被锁定的地址总线和数据总线将阻止其他所有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的访问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当前值被写入指定的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寄存器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5.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向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锁变量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写入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"1"(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有时是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"0") 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6. CPU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解锁地址总线和数据总线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TSL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指令具有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原子性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"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，这意味着该指令的执行过程不可被任何因素中断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这一特性由硬件层面保证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48585" y="5368925"/>
            <a:ext cx="2715895" cy="753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Deadlock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死锁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假设有两个进程H和L，以及一条调度规则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规定只要H处于就绪状态就总是运行它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。现在假设L当前正处于临界区。H变为就绪状态，L被抢占。H试图获取锁但失败，因为L仍在临界区内于是H陷入无限循环，CPU控制权永远无法交还给L。结果导致L永远无法释放这个锁。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623820" y="6061075"/>
            <a:ext cx="2701290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Sleep/Wake</a:t>
            </a:r>
            <a:endParaRPr 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解决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Deadlock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问题的一个方案是采用"睡眠/唤醒"功能。当某个进程发现锁已被设置（即另一个进程处于临界区），它会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调用"睡眠"并进入阻塞状态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。当其他进程退出临界区并清除锁时，可以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调用"唤醒"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功能，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将阻塞的进程移入就绪队列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等待最终执行。增加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睡眠唤醒机制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可能引发</a:t>
            </a:r>
            <a:r>
              <a:rPr lang="en-US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producer-consumer problem </a:t>
            </a:r>
            <a:r>
              <a:rPr lang="zh-CN" altLang="en-US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（一种</a:t>
            </a:r>
            <a:r>
              <a:rPr lang="zh-CN" altLang="en-US" sz="7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唤醒丢失问题）</a:t>
            </a:r>
            <a:endParaRPr lang="zh-CN" altLang="en-US" sz="7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wakeup()--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将对应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 block flag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设置为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sleep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（）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将对应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 block flag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设置为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producer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执行到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count = N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并加载至寄存器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例如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R1 = N)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但未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sleep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consumer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进行抢占，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producer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唤醒将会丢失，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从而一直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sleep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。最终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consumer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执行到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count=0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，也陷入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sleep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674800" y="0"/>
            <a:ext cx="0" cy="75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325110" y="0"/>
            <a:ext cx="2717800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emaphores</a:t>
            </a:r>
            <a:endParaRPr 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信号量是一种特殊的锁变量，用于统计为未来使用而保存的唤醒次数。值为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"0"表示尚未保存任何唤醒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信号量上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atomic原子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操作： </a:t>
            </a:r>
            <a:b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DOWN(TAKE/PEND/P):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若信号量值&gt;0，则递减该值并立即返回； 若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信号量为0，则DOWN操作将阻塞进程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UP(POST/GIVE/V)：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若有进程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blocked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阻塞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，则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选择其中一个唤醒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； 若无阻塞进程，则递增信号量值并返回。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083" name="Picture 3" descr="2-24.jp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15" y="911225"/>
            <a:ext cx="2407285" cy="266319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文本框 27"/>
          <p:cNvSpPr txBox="1"/>
          <p:nvPr/>
        </p:nvSpPr>
        <p:spPr>
          <a:xfrm>
            <a:off x="5378450" y="2412365"/>
            <a:ext cx="261747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semaphores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解决</a:t>
            </a:r>
            <a:r>
              <a:rPr lang="en-US" sz="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producer-consumer problem</a:t>
            </a: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示例</a:t>
            </a:r>
            <a:endParaRPr lang="zh-CN" altLang="en-US" sz="7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25110" y="3574415"/>
            <a:ext cx="2702560" cy="1830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  <a:buNone/>
            </a:pPr>
            <a:r>
              <a:rPr 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Mutual Exclusion with Semaphores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互斥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信号量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例如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表示解锁状态，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代表锁定状态。此时两个进程可以尝试对信号量执行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DOWN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操作，但只有一个会成功，另一个将被阻塞。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当成功进入临界区的进程退出时，它会执行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UP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操作，唤醒另一个被阻塞的进程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Problems with Semaphores-Deadlock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如果一个进程在拿到一个信号量以后因另一个信号共享信号量阻塞，则另一个共享此信号量的进程会因共享信号量无法释放而进入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死锁。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Problems with Semaphores-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Priority Inversion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假设在基于优先级的抢占式系统中，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进程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优先级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 &lt; B &lt; A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但进程A与进程C共享一个信号量。在进程C运行时B抢占运行，由于C的信号量未释放，A由于拿不到信号量而阻塞。尽管进程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具有更高优先级，但进程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实际上完全阻断了进程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的执行！（优先级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反转了）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321300" y="5215255"/>
            <a:ext cx="253174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Memory Management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存储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25110" y="5368925"/>
            <a:ext cx="2717800" cy="1053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操作系统在内存管理中的作用：为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新建进程分配内存、管理进程内存、管理内核自用内存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。提供操作系统服务以：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获取更多内存（例如通过malloc）、释放内存（例如通过free）、保护内存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Physical memory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物理内存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由电容器（DRAM）或触发器（SRAM）构成的实际存储矩阵，用于保存数据和指令。其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结构为字节数组形式，内存地址充当字节索引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321300" y="6122035"/>
            <a:ext cx="251968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Endianness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端序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790" y="6320790"/>
            <a:ext cx="202565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文本框 46"/>
          <p:cNvSpPr txBox="1"/>
          <p:nvPr/>
        </p:nvSpPr>
        <p:spPr>
          <a:xfrm>
            <a:off x="7994650" y="17780"/>
            <a:ext cx="2713355" cy="67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Alignment Issues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对齐问题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数据对齐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：由于未对齐的读取操作效率极低，数据结构应始终以字为单位创建。需添加未使用的字节以确保对齐。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指令对齐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：由于CPU取指电路设计的原因，指令通常必须在字边界处获取。跨字边界获取指令会触发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BUS ERROR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000365" y="571500"/>
            <a:ext cx="255397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Logical &amp; Physical Addresses 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逻辑地址与实际地址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逻辑地址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执行进程代码时“看到”的地址。</a:t>
            </a:r>
            <a:b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物理地址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：实际发送到内存以检索数据或指令的地址。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001000" y="911225"/>
            <a:ext cx="269684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多进程运行的内存管理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地址冲突问题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：多个程序都要求加载到内存的同一位置访问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违规问题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：一个程序覆盖了另一个程序的代码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Base and Limit Registers</a:t>
            </a:r>
            <a:endParaRPr 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基址寄存器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：存储程序的起始地址，所有程序地址都基于该寄存器进行相对计算；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界限寄存器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：存储内存段的长度。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通过设置不同的基址寄存器值可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消除地址冲突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；若程序试图访问低于基址寄存器值或高于（基址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界限）寄存器值的内存区域，就会触发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段错误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</a:rPr>
              <a:t>！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001000" y="2026285"/>
            <a:ext cx="269303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Partitioning Issues-Fragmentation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分段碎片化问题</a:t>
            </a:r>
            <a:endParaRPr 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Internal Fragment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内部碎片化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分区远大于所需空间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。其他进程无法使用这部分空间，造成额外空间浪费。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External Fragment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外部碎片化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已分配内存将空闲内存分割成小块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。虽然总空闲内存充足，但单个碎片无法满足请求需求。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Processes space in UNIX</a:t>
            </a:r>
            <a:endParaRPr 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文本段：只读区域，包含执行代码。可能存在多个文本段。初始化数据段：从可执行文件加载的已初始化全局数据。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BSS段：存放未初始化的全局变量。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 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栈区：包含静态分配的局部变量、函数参数以及返回地址。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堆区：用于存放动态分配的内存空间。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7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Managing Free Memory 管理空闲内存</a:t>
            </a:r>
            <a:endParaRPr 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管理空闲内存方法有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 maps位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图法和Free/Allocated List空闲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已分配列表法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。无论采用哪种方法，内存都被划分为固定大小的块，称为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allocation units"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608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090" y="3780790"/>
            <a:ext cx="251396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文本框 52"/>
          <p:cNvSpPr txBox="1"/>
          <p:nvPr/>
        </p:nvSpPr>
        <p:spPr>
          <a:xfrm>
            <a:off x="7994650" y="4868545"/>
            <a:ext cx="268795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Allocation Policies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分配策略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图和链表告诉我们空闲空间的位置，但并未指明该如何分配！这里有几种可能的实现方式。需要注意的是，在每种情况下，分配块末尾剩余的任何空闲单元都将被返回到空闲列表。例如，如果找到一个8单元的块但只需要6个单元，剩余的2个单元会被标记为"空闲"。 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First Fit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首次适配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扫描列表/位图，找到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第一个能满足请求大小的空闲单元块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。这种方法速度快且易于实现。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Best Fit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最佳适配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：扫描空闲列表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位图以找到能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满足请求大小的最小空闲块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。理论上应最小化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浪费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，但可能导致产生零散无用的微小碎片。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 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Worst Fit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最差适配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寻找最大的空闲内存块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。理论上应减少无用微小碎片的数量。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我们可以将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空闲内存按从小到大排序以支持最佳适配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，或从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大到小排序以支持最差适配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。这会最小化搜索时间，但合并相邻空闲块的难度将大幅增加。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Buddy allocation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伙伴分配（也称快速适配）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这是一种高效（优于O(n)）的空闲块管理方法。采用二分分裂机制：每次分配半个块，分裂后的两个半块称为"伙伴块"。当两个伙伴块都空闲时，它们可以重新合并。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10229</Words>
  <Application>WPS 演示</Application>
  <PresentationFormat>宽屏</PresentationFormat>
  <Paragraphs>328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Symbol</vt:lpstr>
      <vt:lpstr>Courier New</vt:lpstr>
      <vt:lpstr>Cambria Math</vt:lpstr>
      <vt:lpstr>Cambria Math</vt:lpstr>
      <vt:lpstr>MS Mincho</vt:lpstr>
      <vt:lpstr>Segoe Print</vt:lpstr>
      <vt:lpstr>Calibri</vt:lpstr>
      <vt:lpstr>Arial Unicode MS</vt:lpstr>
      <vt:lpstr>Ms.Luce</vt:lpstr>
      <vt:lpstr>Comic Sans MS</vt:lpstr>
      <vt:lpstr>Verdana</vt:lpstr>
      <vt:lpstr>MS PGothic</vt:lpstr>
      <vt:lpstr>Verdana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Fu</dc:creator>
  <cp:lastModifiedBy>Flyan.Fu</cp:lastModifiedBy>
  <cp:revision>12</cp:revision>
  <dcterms:created xsi:type="dcterms:W3CDTF">2023-08-09T12:44:00Z</dcterms:created>
  <dcterms:modified xsi:type="dcterms:W3CDTF">2025-11-25T07:52:50Z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EF10E61D8CCD4A17BB0F553C3F4F8379_12</vt:lpwstr>
  </property>
</Properties>
</file>