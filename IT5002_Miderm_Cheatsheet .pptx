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6858000" cy="990346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57250" y="1620798"/>
            <a:ext cx="5143500" cy="344792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57250" y="5201683"/>
            <a:ext cx="5143500" cy="23910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16" y="2469023"/>
            <a:ext cx="5915025" cy="411962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7916" y="6627618"/>
            <a:ext cx="5915025" cy="216641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71488" y="2636375"/>
            <a:ext cx="2914650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71863" y="2636375"/>
            <a:ext cx="2914650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527275"/>
            <a:ext cx="5915025" cy="191423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2381" y="2427758"/>
            <a:ext cx="2901255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381" y="3617565"/>
            <a:ext cx="2901255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71863" y="2427758"/>
            <a:ext cx="2915543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71863" y="3617565"/>
            <a:ext cx="2915543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240"/>
            <a:ext cx="2211883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15543" y="1425935"/>
            <a:ext cx="3471863" cy="703797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080"/>
            <a:ext cx="2211883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240"/>
            <a:ext cx="2211883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915543" y="1425935"/>
            <a:ext cx="3471863" cy="703797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080"/>
            <a:ext cx="2211883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07756" y="527275"/>
            <a:ext cx="1478756" cy="839284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71488" y="527275"/>
            <a:ext cx="4350544" cy="839284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275"/>
            <a:ext cx="5915025" cy="191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375"/>
            <a:ext cx="5915025" cy="6283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79170"/>
            <a:ext cx="2314575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4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7470" y="136525"/>
            <a:ext cx="2818765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800" b="1">
                <a:solidFill>
                  <a:srgbClr val="D2533C"/>
                </a:solidFill>
                <a:latin typeface="Arial" panose="020B0604020202020204"/>
                <a:ea typeface="Arial" panose="020B0604020202020204"/>
              </a:rPr>
              <a:t>Programming Languages:</a:t>
            </a:r>
            <a:br>
              <a:rPr lang="en-US" altLang="zh-CN" sz="800">
                <a:solidFill>
                  <a:srgbClr val="D2533C"/>
                </a:solidFill>
                <a:latin typeface="Arial" panose="020B0604020202020204"/>
                <a:ea typeface="Arial" panose="020B0604020202020204"/>
              </a:rPr>
            </a:br>
            <a:r>
              <a:rPr lang="en-US" altLang="en-SG" sz="800" dirty="0">
                <a:sym typeface="+mn-ea"/>
              </a:rPr>
              <a:t>A</a:t>
            </a:r>
            <a:r>
              <a:rPr lang="en-SG" sz="800" dirty="0">
                <a:sym typeface="+mn-ea"/>
              </a:rPr>
              <a:t> </a:t>
            </a:r>
            <a:r>
              <a:rPr lang="en-SG" sz="800" u="sng" dirty="0">
                <a:sym typeface="+mn-ea"/>
              </a:rPr>
              <a:t>formal</a:t>
            </a:r>
            <a:r>
              <a:rPr lang="en-SG" sz="800" dirty="0">
                <a:sym typeface="+mn-ea"/>
              </a:rPr>
              <a:t> language that specifies a set of </a:t>
            </a:r>
            <a:r>
              <a:rPr lang="en-SG" sz="800" u="sng" dirty="0">
                <a:sym typeface="+mn-ea"/>
              </a:rPr>
              <a:t>instructions</a:t>
            </a:r>
            <a:r>
              <a:rPr lang="en-SG" sz="800" dirty="0">
                <a:sym typeface="+mn-ea"/>
              </a:rPr>
              <a:t> for a computer to implement specific algorithms to </a:t>
            </a:r>
            <a:r>
              <a:rPr lang="en-SG" sz="800" u="sng" dirty="0">
                <a:sym typeface="+mn-ea"/>
              </a:rPr>
              <a:t>solve problems</a:t>
            </a:r>
            <a:endParaRPr lang="en-US" altLang="zh-CN" sz="800" b="1">
              <a:solidFill>
                <a:srgbClr val="D2533C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7470" y="563880"/>
            <a:ext cx="29927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1st Generation Languages</a:t>
            </a:r>
            <a:r>
              <a:rPr lang="en-US" alt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 Machine language</a:t>
            </a:r>
            <a:endParaRPr lang="en-SG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2nd Generation Languages</a:t>
            </a:r>
            <a:r>
              <a:rPr lang="en-US" alt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Assembly language</a:t>
            </a:r>
            <a:b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3rd Generation Languages</a:t>
            </a:r>
            <a:r>
              <a:rPr lang="en-US" alt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FORTRAN, COBOL, C, BASIC</a:t>
            </a:r>
            <a:b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4th Generation Languages</a:t>
            </a:r>
            <a:r>
              <a:rPr lang="en-US" alt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SQL, PostScript, Mathematica</a:t>
            </a:r>
            <a:b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5th Generation Languages</a:t>
            </a:r>
            <a:r>
              <a:rPr lang="en-US" alt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mainly in A.I. research</a:t>
            </a:r>
            <a:b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</a:t>
            </a:r>
            <a: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Functional</a:t>
            </a:r>
            <a:r>
              <a:rPr lang="en-US" alt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</a:t>
            </a:r>
            <a: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( Lisp, Scheme, SML)</a:t>
            </a:r>
            <a:r>
              <a:rPr lang="en-US" alt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/ </a:t>
            </a:r>
            <a: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Logic(</a:t>
            </a:r>
            <a:r>
              <a:rPr lang="en-SG" sz="800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Prolog</a:t>
            </a:r>
            <a: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)</a:t>
            </a:r>
            <a:endParaRPr lang="en-US" altLang="en-SG" sz="8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470" y="1414780"/>
            <a:ext cx="342900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 Language:  </a:t>
            </a:r>
            <a:r>
              <a:rPr lang="en-SG" sz="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imperative procedural language</a:t>
            </a:r>
            <a:endParaRPr lang="en-SG" altLang="en-US" sz="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70" y="1695450"/>
            <a:ext cx="2542540" cy="15265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7470" y="3369310"/>
            <a:ext cx="3429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algn="l">
              <a:buClrTx/>
              <a:buSzTx/>
              <a:buFontTx/>
            </a:pPr>
            <a:r>
              <a:rPr lang="en-SG" sz="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Data Representation</a:t>
            </a:r>
            <a:br>
              <a:rPr lang="en-SG" sz="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SG" sz="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Byte</a:t>
            </a:r>
            <a: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8 bits</a:t>
            </a:r>
            <a:r>
              <a:rPr lang="en-US" alt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/ </a:t>
            </a:r>
            <a: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Nibble: 4 bits (rarely used)</a:t>
            </a:r>
            <a:r>
              <a:rPr lang="en-US" alt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 </a:t>
            </a:r>
            <a:r>
              <a:rPr lang="en-SG" sz="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Word</a:t>
            </a:r>
            <a: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Multiple of bytes</a:t>
            </a:r>
            <a:endParaRPr lang="en-SG" sz="8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 programming language </a:t>
            </a:r>
            <a:r>
              <a:rPr lang="en-US" sz="8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</a:t>
            </a:r>
            <a:endParaRPr lang="en-US" sz="8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Prefix </a:t>
            </a:r>
            <a:r>
              <a:rPr lang="en-US" sz="8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0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for octal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（八进制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)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 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Eg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032 represents the octal number (32)</a:t>
            </a:r>
            <a:r>
              <a:rPr lang="en-US" sz="800" baseline="-25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8</a:t>
            </a:r>
            <a:endParaRPr lang="en-US" sz="800" baseline="-250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Prefix </a:t>
            </a:r>
            <a:r>
              <a:rPr lang="en-US" sz="8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0x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for hexadecimal</a:t>
            </a:r>
            <a:endParaRPr lang="en-SG" sz="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470" y="4659630"/>
            <a:ext cx="31362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SG" sz="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ASCII Code</a:t>
            </a:r>
            <a:endParaRPr lang="en-SG" sz="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7 bits, plus 1 parity bit (odd or even parity)</a:t>
            </a:r>
            <a:endParaRPr lang="zh-CN" alt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470" y="4076065"/>
            <a:ext cx="33508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SG" sz="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 L</a:t>
            </a:r>
            <a:r>
              <a:rPr lang="en-US" altLang="en-SG" sz="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anguage Data type</a:t>
            </a:r>
            <a:br>
              <a:rPr lang="en-US" altLang="en-SG" sz="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char:   1 byte     -128~127(signed) / 0~255 (unsigned)</a:t>
            </a:r>
            <a:br>
              <a:rPr lang="en-US" alt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zh-CN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short:  2 bytes   </a:t>
            </a:r>
            <a:r>
              <a:rPr lang="en-US" altLang="zh-CN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-32,768~32,767</a:t>
            </a:r>
            <a:r>
              <a:rPr lang="zh-CN" alt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（</a:t>
            </a:r>
            <a:r>
              <a:rPr lang="en-US" alt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signed</a:t>
            </a:r>
            <a:r>
              <a:rPr lang="zh-CN" alt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）</a:t>
            </a:r>
            <a:r>
              <a:rPr lang="en-US" altLang="zh-CN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 0~65,535</a:t>
            </a:r>
            <a:r>
              <a:rPr lang="zh-CN" alt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（</a:t>
            </a:r>
            <a:r>
              <a:rPr lang="en-US" alt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unsigned</a:t>
            </a:r>
            <a:r>
              <a:rPr lang="zh-CN" alt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）</a:t>
            </a:r>
            <a:endParaRPr lang="zh-CN" altLang="en-U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en-US" altLang="zh-CN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int:      4 bytes   -2,147,483,648</a:t>
            </a: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~</a:t>
            </a:r>
            <a:r>
              <a:rPr lang="en-US" altLang="zh-CN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2,147,483,647</a:t>
            </a:r>
            <a:r>
              <a:rPr lang="zh-CN" alt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（</a:t>
            </a:r>
            <a:r>
              <a:rPr lang="en-US" alt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signed</a:t>
            </a:r>
            <a:r>
              <a:rPr lang="zh-CN" alt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）</a:t>
            </a:r>
            <a:endParaRPr lang="zh-CN" altLang="en-U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7470" y="5031740"/>
            <a:ext cx="3429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SG" sz="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Negative Numbers</a:t>
            </a:r>
            <a:br>
              <a:rPr lang="en-US" altLang="zh-CN"/>
            </a:br>
            <a:r>
              <a:rPr lang="en-US" altLang="en-SG" sz="800" dirty="0">
                <a:latin typeface="Arial" panose="020B0604020202020204" pitchFamily="34" charset="0"/>
                <a:cs typeface="Arial" panose="020B0604020202020204" pitchFamily="34" charset="0"/>
              </a:rPr>
              <a:t>Sign-and-Magnitude: sign bit “0” for “+”, “1” for “-”</a:t>
            </a:r>
            <a:endParaRPr lang="en-US" altLang="en-SG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SG" sz="800" dirty="0">
                <a:latin typeface="Arial" panose="020B0604020202020204" pitchFamily="34" charset="0"/>
                <a:cs typeface="Arial" panose="020B0604020202020204" pitchFamily="34" charset="0"/>
              </a:rPr>
              <a:t>1s Complement (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反码</a:t>
            </a:r>
            <a:r>
              <a:rPr lang="en-US" altLang="en-SG" sz="800" dirty="0">
                <a:latin typeface="Arial" panose="020B0604020202020204" pitchFamily="34" charset="0"/>
                <a:cs typeface="Arial" panose="020B0604020202020204" pitchFamily="34" charset="0"/>
              </a:rPr>
              <a:t>):    </a:t>
            </a:r>
            <a:r>
              <a:rPr lang="en-US" sz="800" b="1" dirty="0">
                <a:solidFill>
                  <a:srgbClr val="800000"/>
                </a:solidFill>
                <a:sym typeface="+mn-ea"/>
              </a:rPr>
              <a:t>-</a:t>
            </a:r>
            <a:r>
              <a:rPr lang="en-US" sz="800" b="1" i="1" dirty="0">
                <a:solidFill>
                  <a:srgbClr val="800000"/>
                </a:solidFill>
                <a:sym typeface="+mn-ea"/>
              </a:rPr>
              <a:t>x</a:t>
            </a:r>
            <a:r>
              <a:rPr lang="en-US" sz="800" b="1" dirty="0">
                <a:solidFill>
                  <a:srgbClr val="800000"/>
                </a:solidFill>
                <a:sym typeface="+mn-ea"/>
              </a:rPr>
              <a:t> = 2</a:t>
            </a:r>
            <a:r>
              <a:rPr lang="en-US" sz="800" b="1" i="1" baseline="30000" dirty="0">
                <a:solidFill>
                  <a:srgbClr val="800000"/>
                </a:solidFill>
                <a:sym typeface="+mn-ea"/>
              </a:rPr>
              <a:t>n</a:t>
            </a:r>
            <a:r>
              <a:rPr lang="en-US" sz="800" b="1" dirty="0">
                <a:solidFill>
                  <a:srgbClr val="800000"/>
                </a:solidFill>
                <a:sym typeface="+mn-ea"/>
              </a:rPr>
              <a:t> – </a:t>
            </a:r>
            <a:r>
              <a:rPr lang="en-US" sz="800" b="1" i="1" dirty="0">
                <a:solidFill>
                  <a:srgbClr val="800000"/>
                </a:solidFill>
                <a:sym typeface="+mn-ea"/>
              </a:rPr>
              <a:t>x</a:t>
            </a:r>
            <a:r>
              <a:rPr lang="en-US" sz="800" b="1" dirty="0">
                <a:solidFill>
                  <a:srgbClr val="800000"/>
                </a:solidFill>
                <a:sym typeface="+mn-ea"/>
              </a:rPr>
              <a:t> – 1</a:t>
            </a:r>
            <a:endParaRPr lang="en-US" altLang="en-SG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SG" sz="800" dirty="0">
                <a:latin typeface="Arial" panose="020B0604020202020204" pitchFamily="34" charset="0"/>
                <a:cs typeface="Arial" panose="020B0604020202020204" pitchFamily="34" charset="0"/>
              </a:rPr>
              <a:t>2s Complement (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补码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):    </a:t>
            </a:r>
            <a:r>
              <a:rPr lang="en-US" sz="800" b="1" dirty="0">
                <a:solidFill>
                  <a:srgbClr val="800000"/>
                </a:solidFill>
                <a:sym typeface="+mn-ea"/>
              </a:rPr>
              <a:t>-</a:t>
            </a:r>
            <a:r>
              <a:rPr lang="en-US" sz="800" b="1" i="1" dirty="0">
                <a:solidFill>
                  <a:srgbClr val="800000"/>
                </a:solidFill>
                <a:sym typeface="+mn-ea"/>
              </a:rPr>
              <a:t>x</a:t>
            </a:r>
            <a:r>
              <a:rPr lang="en-US" sz="800" b="1" dirty="0">
                <a:solidFill>
                  <a:srgbClr val="800000"/>
                </a:solidFill>
                <a:sym typeface="+mn-ea"/>
              </a:rPr>
              <a:t> = 2</a:t>
            </a:r>
            <a:r>
              <a:rPr lang="en-US" sz="800" b="1" i="1" baseline="30000" dirty="0">
                <a:solidFill>
                  <a:srgbClr val="800000"/>
                </a:solidFill>
                <a:sym typeface="+mn-ea"/>
              </a:rPr>
              <a:t>n</a:t>
            </a:r>
            <a:r>
              <a:rPr lang="en-US" sz="800" b="1" dirty="0">
                <a:solidFill>
                  <a:srgbClr val="800000"/>
                </a:solidFill>
                <a:sym typeface="+mn-ea"/>
              </a:rPr>
              <a:t> – </a:t>
            </a:r>
            <a:r>
              <a:rPr lang="en-US" sz="800" b="1" i="1" dirty="0">
                <a:solidFill>
                  <a:srgbClr val="800000"/>
                </a:solidFill>
                <a:sym typeface="+mn-ea"/>
              </a:rPr>
              <a:t>x</a:t>
            </a:r>
            <a:endParaRPr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7470" y="5602605"/>
            <a:ext cx="3429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SG" sz="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2’s Complements on Additions</a:t>
            </a:r>
            <a:endParaRPr lang="en-SG" sz="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en-US" altLang="en-SG" sz="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</a:t>
            </a:r>
            <a:r>
              <a:rPr lang="en-US" alt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1.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Perform binary addition on the two numbers.</a:t>
            </a:r>
            <a:b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2.</a:t>
            </a:r>
            <a:r>
              <a:rPr lang="en-US" sz="800" dirty="0">
                <a:solidFill>
                  <a:srgbClr val="9900CC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Ignore the carry out of the MSB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b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3.</a:t>
            </a:r>
            <a:r>
              <a:rPr lang="en-US" sz="8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Check for overflow.</a:t>
            </a:r>
            <a:endParaRPr lang="en-SG" sz="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7470" y="6127750"/>
            <a:ext cx="3429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SG" sz="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</a:t>
            </a:r>
            <a:r>
              <a:rPr lang="en-SG" sz="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’s Complements on Additions</a:t>
            </a:r>
            <a:endParaRPr lang="en-SG" sz="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en-US" altLang="en-SG" sz="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</a:t>
            </a:r>
            <a:r>
              <a:rPr lang="en-US" alt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1.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Perform binary addition on the two numbers.</a:t>
            </a:r>
            <a:b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2.</a:t>
            </a:r>
            <a:r>
              <a:rPr lang="en-US" sz="800" dirty="0">
                <a:solidFill>
                  <a:srgbClr val="9900CC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If there is a carry out of the MSB, add 1 to the result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b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3.</a:t>
            </a:r>
            <a:r>
              <a:rPr lang="en-US" sz="8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Check for overflow.</a:t>
            </a:r>
            <a:endParaRPr lang="en-SG" sz="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7470" y="6711315"/>
            <a:ext cx="2705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SG" sz="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Excess Notation</a:t>
            </a:r>
            <a:br>
              <a:rPr lang="en-SG" sz="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 allows the range of values to be distributed </a:t>
            </a:r>
            <a:r>
              <a:rPr lang="en-US" sz="800" u="sng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evenly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between the positive and negative values</a:t>
            </a:r>
            <a:endParaRPr lang="en-SG" sz="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7470" y="7171690"/>
            <a:ext cx="2286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SG" sz="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Real Numbers</a:t>
            </a:r>
            <a:br>
              <a:rPr lang="en-SG" sz="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Floating Point Representation</a:t>
            </a:r>
            <a:endParaRPr lang="en-US" sz="800" b="1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endParaRPr lang="zh-CN" altLang="en-US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55" y="7532370"/>
            <a:ext cx="2369185" cy="12045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470" y="8763000"/>
            <a:ext cx="3294380" cy="7131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1"/>
            <a:r>
              <a:rPr lang="en-SG" sz="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Instruction Set Architecture</a:t>
            </a:r>
            <a:r>
              <a:rPr lang="en-US" altLang="en-SG" sz="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（</a:t>
            </a:r>
            <a:r>
              <a:rPr lang="en-US" altLang="zh-CN" sz="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ISA</a:t>
            </a:r>
            <a:r>
              <a:rPr lang="zh-CN" altLang="en-US" sz="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）</a:t>
            </a:r>
            <a:br>
              <a:rPr lang="zh-CN" altLang="en-US" sz="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zh-CN" sz="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</a:t>
            </a:r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An abstraction on the </a:t>
            </a:r>
            <a:r>
              <a:rPr lang="en-GB" sz="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interface</a:t>
            </a:r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between the hardware and the low-level software.</a:t>
            </a:r>
            <a:endParaRPr lang="en-GB" sz="8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lvl="1"/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GB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The major types of assembly instruction: </a:t>
            </a: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Memory, Calculation, Control flow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sz="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71850" y="130175"/>
            <a:ext cx="32512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algn="l" fontAlgn="auto">
              <a:buClrTx/>
              <a:buSzTx/>
              <a:buNone/>
            </a:pPr>
            <a:r>
              <a:rPr lang="en-SG" sz="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General Purpose Registers</a:t>
            </a:r>
            <a:br>
              <a:rPr lang="en-SG" sz="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There are </a:t>
            </a:r>
            <a:r>
              <a:rPr lang="en-SG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32 registers</a:t>
            </a:r>
            <a:r>
              <a:rPr 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in MIPS</a:t>
            </a:r>
            <a:r>
              <a:rPr lang="en-US" alt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referred by a number</a:t>
            </a:r>
            <a:endParaRPr lang="en-SG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lvl="1" algn="l" fontAlgn="auto">
              <a:buClrTx/>
              <a:buSzTx/>
              <a:buNone/>
            </a:pPr>
            <a:r>
              <a:rPr 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($0, $1, …, $31) </a:t>
            </a:r>
            <a:r>
              <a:rPr lang="en-US" alt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or</a:t>
            </a:r>
            <a:r>
              <a:rPr 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a name (eg: $a0, $t1)</a:t>
            </a:r>
            <a:endParaRPr lang="en-SG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SG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$zero($0): </a:t>
            </a:r>
            <a:r>
              <a:rPr lang="en-US" sz="800" b="1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Constant value 0</a:t>
            </a:r>
            <a:endParaRPr lang="en-US" altLang="en-SG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71850" y="720090"/>
            <a:ext cx="275907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SG" sz="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General Instruction Syntax</a:t>
            </a:r>
            <a:endParaRPr lang="en-SG" sz="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956945"/>
            <a:ext cx="1701165" cy="67119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365" y="883285"/>
            <a:ext cx="1258570" cy="65278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612515" y="1536065"/>
            <a:ext cx="12858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$s0</a:t>
            </a:r>
            <a:r>
              <a:rPr lang="en-US" altLang="zh-CN" sz="80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80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$s1</a:t>
            </a:r>
            <a:r>
              <a:rPr lang="en-US" altLang="zh-CN" sz="80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altLang="zh-CN" sz="80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$s2</a:t>
            </a:r>
            <a:endParaRPr lang="en-US" altLang="zh-CN" sz="80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171190" y="1627505"/>
            <a:ext cx="3429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 temporary registers </a:t>
            </a: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$t0 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to </a:t>
            </a: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$t7 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for intermediate results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3620" y="1960245"/>
            <a:ext cx="2856230" cy="39687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3371850" y="2391410"/>
            <a:ext cx="29152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SG" sz="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Immediate values</a:t>
            </a:r>
            <a:br>
              <a:rPr lang="en-SG" sz="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16-bit 2s complement number</a:t>
            </a:r>
            <a:r>
              <a:rPr lang="en-US" alt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</a:t>
            </a:r>
            <a:r>
              <a:rPr lang="en-US" sz="800" b="1" dirty="0">
                <a:solidFill>
                  <a:srgbClr val="C00000"/>
                </a:solidFill>
                <a:sym typeface="+mn-ea"/>
              </a:rPr>
              <a:t>[-2</a:t>
            </a:r>
            <a:r>
              <a:rPr lang="en-US" sz="800" b="1" baseline="30000" dirty="0">
                <a:solidFill>
                  <a:srgbClr val="C00000"/>
                </a:solidFill>
                <a:sym typeface="+mn-ea"/>
              </a:rPr>
              <a:t>15</a:t>
            </a:r>
            <a:r>
              <a:rPr lang="en-US" sz="800" b="1" dirty="0">
                <a:solidFill>
                  <a:srgbClr val="C00000"/>
                </a:solidFill>
                <a:sym typeface="+mn-ea"/>
              </a:rPr>
              <a:t> to 2</a:t>
            </a:r>
            <a:r>
              <a:rPr lang="en-US" sz="800" b="1" baseline="30000" dirty="0">
                <a:solidFill>
                  <a:srgbClr val="C00000"/>
                </a:solidFill>
                <a:sym typeface="+mn-ea"/>
              </a:rPr>
              <a:t>15</a:t>
            </a:r>
            <a:r>
              <a:rPr lang="en-US" sz="800" b="1" dirty="0">
                <a:solidFill>
                  <a:srgbClr val="C00000"/>
                </a:solidFill>
                <a:sym typeface="+mn-ea"/>
              </a:rPr>
              <a:t>-1]</a:t>
            </a:r>
            <a:r>
              <a:rPr lang="en-SG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en-SG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371850" y="2731135"/>
            <a:ext cx="3429000" cy="2317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SG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MIPS I</a:t>
            </a:r>
            <a:r>
              <a:rPr lang="en-US" altLang="en-SG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nstructions</a:t>
            </a:r>
            <a:endParaRPr lang="en-US" altLang="en-SG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endParaRPr lang="en-US" altLang="en-SG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graphicFrame>
        <p:nvGraphicFramePr>
          <p:cNvPr id="13" name="表格 12"/>
          <p:cNvGraphicFramePr/>
          <p:nvPr>
            <p:custDataLst>
              <p:tags r:id="rId6"/>
            </p:custDataLst>
          </p:nvPr>
        </p:nvGraphicFramePr>
        <p:xfrm>
          <a:off x="3415665" y="2981960"/>
          <a:ext cx="3347720" cy="6925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905"/>
                <a:gridCol w="390525"/>
                <a:gridCol w="1409700"/>
                <a:gridCol w="1037590"/>
              </a:tblGrid>
              <a:tr h="250825"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Arithmetic instructions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739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Arial" panose="020B0604020202020204" pitchFamily="34" charset="0"/>
                        </a:rPr>
                        <a:t>指令</a:t>
                      </a:r>
                      <a:endParaRPr lang="zh-CN" altLang="en-US" sz="80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Arial" panose="020B0604020202020204" pitchFamily="34" charset="0"/>
                        </a:rPr>
                        <a:t>格式</a:t>
                      </a:r>
                      <a:endParaRPr lang="zh-CN" altLang="en-US" sz="80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Arial" panose="020B0604020202020204" pitchFamily="34" charset="0"/>
                        </a:rPr>
                        <a:t>含义</a:t>
                      </a:r>
                      <a:endParaRPr lang="zh-CN" altLang="en-US" sz="80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Arial" panose="020B0604020202020204" pitchFamily="34" charset="0"/>
                        </a:rPr>
                        <a:t>示例</a:t>
                      </a:r>
                      <a:endParaRPr lang="zh-CN" altLang="en-US" sz="800">
                        <a:latin typeface="Arial" panose="020B0604020202020204" pitchFamily="34" charset="0"/>
                      </a:endParaRPr>
                    </a:p>
                  </a:txBody>
                  <a:tcPr/>
                </a:tc>
              </a:tr>
              <a:tr h="131445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add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R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7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加法（有符号，可能溢出）</a:t>
                      </a:r>
                      <a:endParaRPr lang="zh-CN" altLang="en-US" sz="7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add $t0, $t1, $t2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addi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I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7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加立即数（有符号，可能溢出）</a:t>
                      </a:r>
                      <a:endParaRPr lang="zh-CN" altLang="en-US" sz="7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addi $t0, $t1, 10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sub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R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7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减法（有符号）</a:t>
                      </a:r>
                      <a:endParaRPr lang="zh-CN" altLang="en-US" sz="7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sub $t0, $t1, $t2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 gridSpan="4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700" b="1">
                          <a:solidFill>
                            <a:schemeClr val="l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  <a:sym typeface="+mn-ea"/>
                        </a:rPr>
                        <a:t>Logic instructions</a:t>
                      </a:r>
                      <a:endParaRPr lang="en-US" altLang="zh-CN" sz="700" b="1">
                        <a:solidFill>
                          <a:schemeClr val="lt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and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R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7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按位与</a:t>
                      </a:r>
                      <a:endParaRPr lang="zh-CN" altLang="en-US" sz="7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and $t0, $t1, $t2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or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R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7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按位或</a:t>
                      </a:r>
                      <a:endParaRPr lang="zh-CN" altLang="en-US" sz="7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or $t0, $t1, $t2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xor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R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700">
                          <a:latin typeface="微软雅黑" panose="020B0503020204020204" charset="-122"/>
                          <a:ea typeface="微软雅黑" panose="020B0503020204020204" charset="-122"/>
                        </a:rPr>
                        <a:t>按位异或</a:t>
                      </a:r>
                      <a:endParaRPr lang="zh-CN" altLang="en-US" sz="7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xor $t0, $t1, $t2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955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nor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R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700">
                          <a:latin typeface="微软雅黑" panose="020B0503020204020204" charset="-122"/>
                          <a:ea typeface="微软雅黑" panose="020B0503020204020204" charset="-122"/>
                        </a:rPr>
                        <a:t>按位或非</a:t>
                      </a:r>
                      <a:endParaRPr lang="zh-CN" altLang="en-US" sz="7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nor $t0, $t1, $t2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955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andi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I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700">
                          <a:latin typeface="微软雅黑" panose="020B0503020204020204" charset="-122"/>
                          <a:ea typeface="微软雅黑" panose="020B0503020204020204" charset="-122"/>
                        </a:rPr>
                        <a:t>与立即数</a:t>
                      </a:r>
                      <a:endParaRPr lang="zh-CN" altLang="en-US" sz="7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andi $t0, $t1, 0xFF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955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ori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I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700">
                          <a:latin typeface="微软雅黑" panose="020B0503020204020204" charset="-122"/>
                          <a:ea typeface="微软雅黑" panose="020B0503020204020204" charset="-122"/>
                        </a:rPr>
                        <a:t>或立即数</a:t>
                      </a:r>
                      <a:endParaRPr lang="zh-CN" altLang="en-US" sz="7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ori $t0, $t1, 0xFF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955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xori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I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700">
                          <a:latin typeface="微软雅黑" panose="020B0503020204020204" charset="-122"/>
                          <a:ea typeface="微软雅黑" panose="020B0503020204020204" charset="-122"/>
                        </a:rPr>
                        <a:t>异或立即数</a:t>
                      </a:r>
                      <a:endParaRPr lang="zh-CN" altLang="en-US" sz="7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xori $t0, $t1, 0xFF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955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sll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R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700">
                          <a:latin typeface="微软雅黑" panose="020B0503020204020204" charset="-122"/>
                          <a:ea typeface="微软雅黑" panose="020B0503020204020204" charset="-122"/>
                        </a:rPr>
                        <a:t>逻辑左移</a:t>
                      </a:r>
                      <a:endParaRPr lang="zh-CN" altLang="en-US" sz="7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sll $t0, $t1, 2 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955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srl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R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700">
                          <a:latin typeface="微软雅黑" panose="020B0503020204020204" charset="-122"/>
                          <a:ea typeface="微软雅黑" panose="020B0503020204020204" charset="-122"/>
                        </a:rPr>
                        <a:t>逻辑右移</a:t>
                      </a:r>
                      <a:endParaRPr lang="zh-CN" altLang="en-US" sz="7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srl $t0, $t1, 3 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955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sra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R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700">
                          <a:latin typeface="微软雅黑" panose="020B0503020204020204" charset="-122"/>
                          <a:ea typeface="微软雅黑" panose="020B0503020204020204" charset="-122"/>
                        </a:rPr>
                        <a:t>算术右移（符号位扩展）</a:t>
                      </a:r>
                      <a:endParaRPr lang="zh-CN" altLang="en-US" sz="7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sra $t0, $t1, 1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95580">
                <a:tc gridSpan="4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700" b="1">
                          <a:solidFill>
                            <a:schemeClr val="l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Load-store Instructions</a:t>
                      </a:r>
                      <a:endParaRPr lang="en-US" altLang="zh-CN" sz="700" b="1">
                        <a:solidFill>
                          <a:schemeClr val="lt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955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lw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I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700">
                          <a:latin typeface="微软雅黑" panose="020B0503020204020204" charset="-122"/>
                          <a:ea typeface="微软雅黑" panose="020B0503020204020204" charset="-122"/>
                        </a:rPr>
                        <a:t>从内存加载字（</a:t>
                      </a:r>
                      <a:r>
                        <a:rPr lang="en-US" altLang="zh-CN" sz="70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r>
                        <a:rPr lang="zh-CN" altLang="en-US" sz="700">
                          <a:latin typeface="微软雅黑" panose="020B0503020204020204" charset="-122"/>
                          <a:ea typeface="微软雅黑" panose="020B0503020204020204" charset="-122"/>
                        </a:rPr>
                        <a:t>字节）</a:t>
                      </a:r>
                      <a:endParaRPr lang="zh-CN" altLang="en-US" sz="7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lw $t0, 8($sp)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955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sw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I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700">
                          <a:latin typeface="微软雅黑" panose="020B0503020204020204" charset="-122"/>
                          <a:ea typeface="微软雅黑" panose="020B0503020204020204" charset="-122"/>
                        </a:rPr>
                        <a:t>存储字到内存</a:t>
                      </a:r>
                      <a:endParaRPr lang="zh-CN" altLang="en-US" sz="7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sw $t0, 8($sp)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955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lui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I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700">
                          <a:latin typeface="微软雅黑" panose="020B0503020204020204" charset="-122"/>
                          <a:ea typeface="微软雅黑" panose="020B0503020204020204" charset="-122"/>
                        </a:rPr>
                        <a:t>取立即数高位</a:t>
                      </a:r>
                      <a:endParaRPr lang="zh-CN" altLang="en-US" sz="7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lui $t0, 0x1001</a:t>
                      </a:r>
                      <a:endParaRPr lang="en-US" altLang="en-US" sz="7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95580">
                <a:tc gridSpan="4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700" b="1">
                          <a:solidFill>
                            <a:schemeClr val="l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Conditional Branch Instructions</a:t>
                      </a:r>
                      <a:endParaRPr lang="en-US" altLang="zh-CN" sz="700" b="1">
                        <a:solidFill>
                          <a:schemeClr val="lt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9558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beq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I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相等则分支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beq $t0, $t1, label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9558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bne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I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不相等则分支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bne $t0, $t1, label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95580">
                <a:tc gridSpan="4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700" b="1">
                          <a:solidFill>
                            <a:schemeClr val="l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  <a:sym typeface="+mn-ea"/>
                        </a:rPr>
                        <a:t>Conditional Branch Instructions</a:t>
                      </a:r>
                      <a:endParaRPr lang="en-US" altLang="zh-CN" sz="700" b="1">
                        <a:solidFill>
                          <a:schemeClr val="lt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9558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slt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R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设置小于（有符号）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  <a:sym typeface="+mn-ea"/>
                        </a:rPr>
                        <a:t>(if $t1&lt;$t2 then $t0=1 else 0)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slt $t0, $t1, $t2 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955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slti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I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设置小于立即数（有符号）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slti $t0, $t1, 100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95580"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Unconditional Branch Instructions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cPr>
                    <a:solidFill>
                      <a:schemeClr val="accent1"/>
                    </a:solidFill>
                  </a:tcPr>
                </a:tc>
                <a:tc hMerge="1">
                  <a:tcPr>
                    <a:solidFill>
                      <a:schemeClr val="accent1"/>
                    </a:solidFill>
                  </a:tcPr>
                </a:tc>
                <a:tc hMerge="1">
                  <a:tcPr>
                    <a:solidFill>
                      <a:schemeClr val="accent1"/>
                    </a:solidFill>
                  </a:tcPr>
                </a:tc>
              </a:tr>
              <a:tr h="1955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j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J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跳转</a:t>
                      </a:r>
                      <a:endParaRPr lang="zh-CN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j label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955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jr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R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跳转到寄存器指定地址</a:t>
                      </a:r>
                      <a:endParaRPr lang="zh-CN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jr $ra (</a:t>
                      </a:r>
                      <a:r>
                        <a:rPr lang="zh-CN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用于函数返回</a:t>
                      </a:r>
                      <a:r>
                        <a:rPr lang="en-US" altLang="zh-CN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)</a:t>
                      </a:r>
                      <a:endParaRPr lang="en-US" altLang="zh-CN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955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jal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J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跳转并链接（用于函数调用）</a:t>
                      </a:r>
                      <a:endParaRPr lang="zh-CN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jal function_name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95580"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Unconditional Branch Instructions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955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syscall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特殊</a:t>
                      </a:r>
                      <a:endParaRPr lang="zh-CN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系统调用</a:t>
                      </a:r>
                      <a:r>
                        <a:rPr lang="en-US" altLang="zh-CN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  <a:sym typeface="+mn-ea"/>
                        </a:rPr>
                        <a:t>根据</a:t>
                      </a:r>
                      <a:r>
                        <a:rPr lang="en-US" altLang="zh-CN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  <a:sym typeface="+mn-ea"/>
                        </a:rPr>
                        <a:t>$v0</a:t>
                      </a:r>
                      <a:r>
                        <a:rPr lang="zh-CN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  <a:sym typeface="+mn-ea"/>
                        </a:rPr>
                        <a:t>执行操作</a:t>
                      </a:r>
                      <a:r>
                        <a:rPr lang="en-US" altLang="zh-CN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  <a:sym typeface="+mn-ea"/>
                        </a:rPr>
                        <a:t>)</a:t>
                      </a:r>
                      <a:endParaRPr lang="en-US" altLang="zh-CN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syscall</a:t>
                      </a:r>
                      <a:endParaRPr lang="en-US" altLang="zh-CN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955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7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nop</a:t>
                      </a:r>
                      <a:endParaRPr lang="en-US" altLang="en-US" sz="7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R</a:t>
                      </a:r>
                      <a:endParaRPr lang="en-US" altLang="en-US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空操作</a:t>
                      </a:r>
                      <a:r>
                        <a:rPr lang="en-US" altLang="zh-CN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  <a:sym typeface="+mn-ea"/>
                        </a:rPr>
                        <a:t> (</a:t>
                      </a:r>
                      <a:r>
                        <a:rPr lang="zh-CN" altLang="en-US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  <a:sym typeface="+mn-ea"/>
                        </a:rPr>
                        <a:t>等同于</a:t>
                      </a:r>
                      <a:r>
                        <a:rPr lang="en-US" altLang="zh-CN" sz="7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  <a:sym typeface="+mn-ea"/>
                        </a:rPr>
                        <a:t> sll $0, $0, 0)</a:t>
                      </a:r>
                      <a:endParaRPr lang="en-US" altLang="zh-CN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7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nop</a:t>
                      </a:r>
                      <a:endParaRPr lang="en-US" altLang="zh-CN" sz="700" b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3340" y="126365"/>
            <a:ext cx="3509010" cy="3799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MIPS </a:t>
            </a:r>
            <a:r>
              <a:rPr lang="zh-CN" alt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经典</a:t>
            </a:r>
            <a:r>
              <a:rPr lang="zh-CN" altLang="en-US" sz="9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冒泡排序</a:t>
            </a:r>
            <a:r>
              <a:rPr lang="zh-CN" alt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算法：</a:t>
            </a:r>
            <a:endParaRPr lang="zh-CN" altLang="en-US"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初始化设置</a:t>
            </a:r>
            <a:endParaRPr lang="en-US" altLang="en-SG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SG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addi $t0, $zero, 0      # $t0 = 0                  (交换标志 swapped)</a:t>
            </a:r>
            <a:endParaRPr lang="en-US" altLang="en-SG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SG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addi $t1, $zero, 0      # $t1 = 0                  (外层循环计数器 i)</a:t>
            </a:r>
            <a:endParaRPr lang="en-US" altLang="en-SG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SG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addi $t2, $s3, 0         # $t2 = $s3               ( ptr = 数组起始地址)</a:t>
            </a:r>
            <a:endParaRPr lang="en-US" altLang="en-SG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SG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addi $t3, $s4, </a:t>
            </a:r>
            <a:r>
              <a:rPr lang="en-US" altLang="en-SG" sz="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en-US" altLang="en-SG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# $t3 = $s4 - 1          ($s4 数组长度 n)</a:t>
            </a:r>
            <a:endParaRPr lang="en-US" altLang="en-SG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SG" sz="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sll</a:t>
            </a:r>
            <a:r>
              <a:rPr lang="en-US" altLang="en-SG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en-SG" sz="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$t3, $t3, 2  </a:t>
            </a:r>
            <a:r>
              <a:rPr lang="en-US" altLang="en-SG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# $t3 = ($s4 - 1) * 4  (最后一个元素的字节偏移)</a:t>
            </a:r>
            <a:endParaRPr lang="en-US" altLang="en-SG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SG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add  $t3, $s3, $t3      # $t3 = $s3 + ($s4 - 1)*4 (最后一个元素地址)</a:t>
            </a:r>
            <a:endParaRPr lang="en-US" altLang="en-SG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外层循环（标签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en-SG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a:   </a:t>
            </a:r>
            <a:r>
              <a:rPr lang="en-US" altLang="zh-CN" sz="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slt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$t4, $t1, $s4         # $t4 = (i &lt; n) ? 1 : 0 </a:t>
            </a:r>
            <a:endParaRPr lang="en-US" altLang="zh-CN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en-US" altLang="zh-CN" sz="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beq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$t4, $zero, e      # 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 &gt;= n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，跳转到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 (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结束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内层循环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b)</a:t>
            </a:r>
            <a:endParaRPr lang="en-US" altLang="zh-CN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b:   slt $t4, $t2, $t3         # $t4 = (ptr &lt; 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最后一个元素地址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? 1 : 0</a:t>
            </a:r>
            <a:endParaRPr lang="en-US" altLang="zh-CN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beq $t4, $zero, d      # 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ptr &gt;= 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最后一个元素地址，跳转到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 </a:t>
            </a:r>
            <a:endParaRPr lang="en-US" altLang="zh-CN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en-US" altLang="zh-CN" sz="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lw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$t4, 0($t2)            # $t4 = arr[j]</a:t>
            </a:r>
            <a:endParaRPr lang="en-US" altLang="zh-CN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en-US" altLang="zh-CN" sz="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lw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$t5, 4($t2)            # $t5 = arr[j+1]</a:t>
            </a:r>
            <a:endParaRPr lang="en-US" altLang="zh-CN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slt $t6, $t4, $t5         # $t6 = (arr[j] &lt; arr[j+1]) ? 1 : 0</a:t>
            </a:r>
            <a:endParaRPr lang="en-US" altLang="zh-CN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beq $t6, $zero, c      # 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arr[j] &gt;= arr[j+1]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，跳转到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 (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不交换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en-US" altLang="zh-CN" sz="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$t4, 4($t2)           # 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交换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arr[j] 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arr[j+1]</a:t>
            </a:r>
            <a:endParaRPr lang="en-US" altLang="zh-CN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en-US" altLang="zh-CN" sz="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$t5, 0($t2)</a:t>
            </a:r>
            <a:endParaRPr lang="en-US" altLang="zh-CN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en-US" altLang="zh-CN" sz="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addi $t0, $zero, 1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# swapped = 1</a:t>
            </a:r>
            <a:endParaRPr lang="en-US" altLang="zh-CN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内层循环迭代（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标签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c:    addi $t2, $t2, </a:t>
            </a:r>
            <a:r>
              <a:rPr lang="en-US" altLang="zh-CN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           # ptr += 4 (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移动到下一个元素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zh-CN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zh-CN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 b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# 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跳回内层循环开始</a:t>
            </a:r>
            <a:endParaRPr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外层循环迭代（标签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d:   beq $t0, $zero, </a:t>
            </a:r>
            <a:r>
              <a:rPr lang="en-US" altLang="zh-CN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        # 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如果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 swapped == 0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，提前结束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数组已排序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zh-CN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zh-CN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 $t0, $zero, 0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       # 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否则，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swapped = 0</a:t>
            </a:r>
            <a:endParaRPr lang="en-US" altLang="zh-CN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      addi $t2, $s3, 0          # ptr = 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数组起始地址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（重置指针，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重新比较）</a:t>
            </a:r>
            <a:endParaRPr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zh-CN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 $t1, $t1, 1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           # i++</a:t>
            </a:r>
            <a:endParaRPr lang="en-US" altLang="zh-CN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      j a                               # 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跳回外层循环开始</a:t>
            </a:r>
            <a:endParaRPr lang="en-US" altLang="en-SG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3345" y="3926205"/>
            <a:ext cx="342900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800" b="1">
                <a:solidFill>
                  <a:srgbClr val="D2533C"/>
                </a:solidFill>
                <a:latin typeface="Arial" panose="020B0604020202020204"/>
                <a:ea typeface="Arial" panose="020B0604020202020204"/>
                <a:sym typeface="+mn-ea"/>
              </a:rPr>
              <a:t>MIPS Instruction C</a:t>
            </a:r>
            <a:r>
              <a:rPr lang="en-US" altLang="zh-CN" sz="800" b="1">
                <a:solidFill>
                  <a:srgbClr val="D2533C"/>
                </a:solidFill>
                <a:latin typeface="Arial" panose="020B0604020202020204"/>
                <a:ea typeface="Arial" panose="020B0604020202020204"/>
                <a:sym typeface="+mn-ea"/>
              </a:rPr>
              <a:t>lassfication</a:t>
            </a:r>
            <a:endParaRPr lang="en-US" altLang="zh-CN" sz="800" b="1">
              <a:solidFill>
                <a:srgbClr val="D2533C"/>
              </a:solidFill>
              <a:latin typeface="Arial" panose="020B0604020202020204"/>
              <a:ea typeface="Arial" panose="020B0604020202020204"/>
              <a:sym typeface="+mn-ea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167640" y="4128135"/>
          <a:ext cx="3375660" cy="2998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2455"/>
                <a:gridCol w="208280"/>
                <a:gridCol w="283845"/>
                <a:gridCol w="408305"/>
                <a:gridCol w="98425"/>
                <a:gridCol w="454660"/>
                <a:gridCol w="259715"/>
                <a:gridCol w="429260"/>
                <a:gridCol w="640715"/>
              </a:tblGrid>
              <a:tr h="218440">
                <a:tc gridSpan="9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800" b="1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R - Format</a:t>
                      </a:r>
                      <a:endParaRPr lang="en-US" altLang="en-US" sz="800" b="1" dirty="0" err="1">
                        <a:solidFill>
                          <a:srgbClr val="66006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800" b="1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opcode</a:t>
                      </a:r>
                      <a:endParaRPr lang="en-US" altLang="en-US" sz="800" b="1" dirty="0" err="1">
                        <a:solidFill>
                          <a:srgbClr val="66006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800" b="1" dirty="0" err="1">
                          <a:solidFill>
                            <a:srgbClr val="0066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rs</a:t>
                      </a:r>
                      <a:endParaRPr lang="en-US" altLang="en-US" sz="800" b="1" dirty="0" err="1">
                        <a:solidFill>
                          <a:srgbClr val="0066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800" b="1" dirty="0" err="1">
                          <a:solidFill>
                            <a:srgbClr val="0066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rt</a:t>
                      </a:r>
                      <a:endParaRPr lang="en-US" altLang="en-US" sz="800" b="1" dirty="0" err="1">
                        <a:solidFill>
                          <a:srgbClr val="0066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rd</a:t>
                      </a:r>
                      <a:endParaRPr lang="en-US" altLang="en-US" sz="800" b="1" dirty="0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800" b="1" dirty="0" err="1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shamt</a:t>
                      </a:r>
                      <a:endParaRPr lang="en-US" altLang="en-US" sz="800" b="1" dirty="0" err="1">
                        <a:solidFill>
                          <a:srgbClr val="002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800" b="1" dirty="0" err="1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funct</a:t>
                      </a:r>
                      <a:endParaRPr lang="en-US" altLang="en-US" sz="800" b="1" dirty="0" err="1">
                        <a:solidFill>
                          <a:srgbClr val="002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84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800" b="1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6bits</a:t>
                      </a:r>
                      <a:endParaRPr lang="en-US" altLang="en-US" sz="800" b="1" dirty="0" err="1">
                        <a:solidFill>
                          <a:srgbClr val="66006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800" b="1" dirty="0" err="1">
                          <a:solidFill>
                            <a:srgbClr val="0066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5bits</a:t>
                      </a:r>
                      <a:endParaRPr lang="en-US" altLang="en-US" sz="800" b="1" dirty="0" err="1">
                        <a:solidFill>
                          <a:srgbClr val="0066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800" b="1" dirty="0" err="1">
                          <a:solidFill>
                            <a:srgbClr val="0066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5bits</a:t>
                      </a:r>
                      <a:endParaRPr lang="en-US" altLang="en-US" sz="800" b="1" dirty="0" err="1">
                        <a:solidFill>
                          <a:srgbClr val="0066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8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5bits</a:t>
                      </a:r>
                      <a:endParaRPr lang="en-US" altLang="en-US" sz="800" b="1" dirty="0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800" b="1" dirty="0" err="1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5bits</a:t>
                      </a:r>
                      <a:endParaRPr lang="en-US" altLang="en-US" sz="800" b="1" dirty="0" err="1">
                        <a:solidFill>
                          <a:srgbClr val="002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800" b="1" dirty="0" err="1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6bits</a:t>
                      </a:r>
                      <a:endParaRPr lang="en-US" altLang="en-US" sz="800" b="1" dirty="0" err="1">
                        <a:solidFill>
                          <a:srgbClr val="002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84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800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0</a:t>
                      </a:r>
                      <a:endParaRPr lang="en-US" altLang="en-US" sz="800" dirty="0" err="1">
                        <a:solidFill>
                          <a:srgbClr val="66006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700" dirty="0" err="1">
                          <a:solidFill>
                            <a:srgbClr val="0066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1st src</a:t>
                      </a:r>
                      <a:endParaRPr lang="en-US" altLang="en-US" sz="700" dirty="0" err="1">
                        <a:solidFill>
                          <a:srgbClr val="0066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700" dirty="0" err="1">
                          <a:solidFill>
                            <a:srgbClr val="0066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2nd src</a:t>
                      </a:r>
                      <a:endParaRPr lang="en-US" altLang="en-US" sz="700" dirty="0" err="1">
                        <a:solidFill>
                          <a:srgbClr val="0066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800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des</a:t>
                      </a:r>
                      <a:endParaRPr lang="en-US" altLang="en-US" sz="800" dirty="0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700" dirty="0" err="1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 shift bits</a:t>
                      </a:r>
                      <a:endParaRPr lang="en-US" altLang="en-US" sz="700" dirty="0" err="1">
                        <a:solidFill>
                          <a:srgbClr val="002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700" dirty="0" err="1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reference</a:t>
                      </a:r>
                      <a:endParaRPr lang="en-US" altLang="en-US" sz="700" dirty="0" err="1">
                        <a:solidFill>
                          <a:srgbClr val="002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43535">
                <a:tc gridSpan="9"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800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eg:  </a:t>
                      </a:r>
                      <a:r>
                        <a:rPr lang="en-US" sz="800" b="1" dirty="0">
                          <a:solidFill>
                            <a:srgbClr val="660066"/>
                          </a:solidFill>
                          <a:latin typeface="Courier New" panose="02070309020205020404" pitchFamily="49" charset="0"/>
                          <a:sym typeface="+mn-ea"/>
                        </a:rPr>
                        <a:t>add</a:t>
                      </a:r>
                      <a:r>
                        <a:rPr lang="en-US" sz="800" b="1" dirty="0">
                          <a:latin typeface="Courier New" panose="02070309020205020404" pitchFamily="49" charset="0"/>
                          <a:sym typeface="+mn-ea"/>
                        </a:rPr>
                        <a:t> 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sym typeface="+mn-ea"/>
                        </a:rPr>
                        <a:t>$10(rd)</a:t>
                      </a:r>
                      <a:r>
                        <a:rPr lang="en-US" sz="800" b="1" dirty="0">
                          <a:latin typeface="Courier New" panose="02070309020205020404" pitchFamily="49" charset="0"/>
                          <a:sym typeface="+mn-ea"/>
                        </a:rPr>
                        <a:t>, </a:t>
                      </a:r>
                      <a:r>
                        <a:rPr lang="en-US" sz="800" b="1" dirty="0">
                          <a:solidFill>
                            <a:srgbClr val="006600"/>
                          </a:solidFill>
                          <a:latin typeface="Courier New" panose="02070309020205020404" pitchFamily="49" charset="0"/>
                          <a:sym typeface="+mn-ea"/>
                        </a:rPr>
                        <a:t>$7(rs)</a:t>
                      </a:r>
                      <a:r>
                        <a:rPr lang="en-US" sz="800" b="1" dirty="0">
                          <a:latin typeface="Courier New" panose="02070309020205020404" pitchFamily="49" charset="0"/>
                          <a:sym typeface="+mn-ea"/>
                        </a:rPr>
                        <a:t>, </a:t>
                      </a:r>
                      <a:r>
                        <a:rPr lang="en-US" sz="800" b="1" dirty="0">
                          <a:solidFill>
                            <a:srgbClr val="006600"/>
                          </a:solidFill>
                          <a:latin typeface="Courier New" panose="02070309020205020404" pitchFamily="49" charset="0"/>
                          <a:sym typeface="+mn-ea"/>
                        </a:rPr>
                        <a:t>$5(rt)</a:t>
                      </a:r>
                      <a:endParaRPr lang="en-US" sz="800" b="1" dirty="0">
                        <a:solidFill>
                          <a:srgbClr val="006600"/>
                        </a:solidFill>
                        <a:latin typeface="Courier New" panose="02070309020205020404" pitchFamily="49" charset="0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en-US" sz="800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eg:  </a:t>
                      </a:r>
                      <a:r>
                        <a:rPr lang="en-US" sz="800" b="1" dirty="0" err="1">
                          <a:solidFill>
                            <a:srgbClr val="660066"/>
                          </a:solidFill>
                          <a:latin typeface="Courier New" panose="02070309020205020404" pitchFamily="49" charset="0"/>
                          <a:sym typeface="+mn-ea"/>
                        </a:rPr>
                        <a:t>sll</a:t>
                      </a:r>
                      <a:r>
                        <a:rPr lang="en-US" sz="800" b="1" dirty="0">
                          <a:latin typeface="Courier New" panose="02070309020205020404" pitchFamily="49" charset="0"/>
                          <a:sym typeface="+mn-ea"/>
                        </a:rPr>
                        <a:t> 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sym typeface="+mn-ea"/>
                        </a:rPr>
                        <a:t>$8(rd)</a:t>
                      </a:r>
                      <a:r>
                        <a:rPr lang="en-US" sz="800" b="1" dirty="0">
                          <a:latin typeface="Courier New" panose="02070309020205020404" pitchFamily="49" charset="0"/>
                          <a:sym typeface="+mn-ea"/>
                        </a:rPr>
                        <a:t>, </a:t>
                      </a:r>
                      <a:r>
                        <a:rPr lang="en-US" sz="800" b="1" dirty="0">
                          <a:solidFill>
                            <a:srgbClr val="006600"/>
                          </a:solidFill>
                          <a:latin typeface="Courier New" panose="02070309020205020404" pitchFamily="49" charset="0"/>
                          <a:sym typeface="+mn-ea"/>
                        </a:rPr>
                        <a:t>$9(rt)</a:t>
                      </a:r>
                      <a:r>
                        <a:rPr lang="en-US" sz="800" b="1" dirty="0">
                          <a:latin typeface="Courier New" panose="02070309020205020404" pitchFamily="49" charset="0"/>
                          <a:sym typeface="+mn-ea"/>
                        </a:rPr>
                        <a:t>, </a:t>
                      </a:r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sym typeface="+mn-ea"/>
                        </a:rPr>
                        <a:t>4(</a:t>
                      </a:r>
                      <a:r>
                        <a:rPr lang="en-US" sz="800" b="0" dirty="0" err="1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shamt</a:t>
                      </a:r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sym typeface="+mn-ea"/>
                        </a:rPr>
                        <a:t>)</a:t>
                      </a:r>
                      <a:r>
                        <a:rPr lang="en-US" altLang="en-US" sz="800" b="1" dirty="0" err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 [</a:t>
                      </a:r>
                      <a:r>
                        <a:rPr lang="en-US" altLang="en-US" sz="800" b="1" dirty="0" err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For sll,srl :</a:t>
                      </a:r>
                      <a:r>
                        <a:rPr lang="en-US" sz="800" b="1" dirty="0" err="1">
                          <a:solidFill>
                            <a:srgbClr val="0066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 rs = 0</a:t>
                      </a:r>
                      <a:r>
                        <a:rPr lang="en-US" altLang="en-US" sz="800" b="1" dirty="0" err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]</a:t>
                      </a:r>
                      <a:endParaRPr lang="en-US" altLang="en-US" sz="800" dirty="0" err="1">
                        <a:solidFill>
                          <a:srgbClr val="66006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9075">
                <a:tc gridSpan="9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800" b="1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I - Format</a:t>
                      </a:r>
                      <a:endParaRPr lang="en-US" altLang="en-US" sz="800" dirty="0" err="1">
                        <a:solidFill>
                          <a:srgbClr val="66006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844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800" b="1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opcode</a:t>
                      </a:r>
                      <a:endParaRPr lang="en-US" altLang="en-US" sz="800" dirty="0" err="1">
                        <a:solidFill>
                          <a:srgbClr val="66006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800" b="1" dirty="0" err="1">
                          <a:solidFill>
                            <a:srgbClr val="0066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rs</a:t>
                      </a:r>
                      <a:endParaRPr lang="en-US" altLang="en-US" sz="800" dirty="0" err="1">
                        <a:solidFill>
                          <a:srgbClr val="66006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rt</a:t>
                      </a:r>
                      <a:endParaRPr lang="en-US" altLang="en-US" sz="800" dirty="0" err="1">
                        <a:solidFill>
                          <a:srgbClr val="66006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immediate</a:t>
                      </a:r>
                      <a:endParaRPr lang="en-US" altLang="en-US" sz="800" dirty="0" err="1">
                        <a:solidFill>
                          <a:srgbClr val="66006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844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800" b="1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6bits</a:t>
                      </a:r>
                      <a:endParaRPr lang="en-US" altLang="en-US" sz="800" b="1" dirty="0" err="1">
                        <a:solidFill>
                          <a:srgbClr val="66006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800" b="1" dirty="0" err="1">
                          <a:solidFill>
                            <a:srgbClr val="0066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5bits</a:t>
                      </a:r>
                      <a:endParaRPr lang="en-US" altLang="en-US" sz="800" b="1" dirty="0" err="1">
                        <a:solidFill>
                          <a:srgbClr val="0066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8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5bits</a:t>
                      </a:r>
                      <a:endParaRPr lang="en-US" altLang="en-US" sz="800" b="1" dirty="0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800" b="1" dirty="0" err="1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16bits</a:t>
                      </a:r>
                      <a:endParaRPr lang="en-US" altLang="en-US" sz="800" b="1" dirty="0" err="1">
                        <a:solidFill>
                          <a:srgbClr val="002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68630">
                <a:tc gridSpan="9"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800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eg:  </a:t>
                      </a:r>
                      <a:r>
                        <a:rPr lang="en-US" sz="800" b="1" dirty="0" err="1">
                          <a:solidFill>
                            <a:srgbClr val="660066"/>
                          </a:solidFill>
                          <a:latin typeface="Courier New" panose="02070309020205020404" pitchFamily="49" charset="0"/>
                          <a:sym typeface="+mn-ea"/>
                        </a:rPr>
                        <a:t>addi 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sym typeface="+mn-ea"/>
                        </a:rPr>
                        <a:t>$21(rt)</a:t>
                      </a:r>
                      <a:r>
                        <a:rPr lang="en-US" sz="800" b="1" dirty="0">
                          <a:latin typeface="Courier New" panose="02070309020205020404" pitchFamily="49" charset="0"/>
                          <a:sym typeface="+mn-ea"/>
                        </a:rPr>
                        <a:t>, </a:t>
                      </a:r>
                      <a:r>
                        <a:rPr lang="en-US" sz="800" b="1" dirty="0">
                          <a:solidFill>
                            <a:srgbClr val="006600"/>
                          </a:solidFill>
                          <a:latin typeface="Courier New" panose="02070309020205020404" pitchFamily="49" charset="0"/>
                          <a:sym typeface="+mn-ea"/>
                        </a:rPr>
                        <a:t>$22(rs)</a:t>
                      </a:r>
                      <a:r>
                        <a:rPr lang="en-US" sz="800" b="1" dirty="0">
                          <a:latin typeface="Courier New" panose="02070309020205020404" pitchFamily="49" charset="0"/>
                          <a:sym typeface="+mn-ea"/>
                        </a:rPr>
                        <a:t>, </a:t>
                      </a:r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sym typeface="+mn-ea"/>
                        </a:rPr>
                        <a:t>-50(</a:t>
                      </a:r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+mn-ea"/>
                        </a:rPr>
                        <a:t>immediate</a:t>
                      </a:r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sym typeface="+mn-ea"/>
                        </a:rPr>
                        <a:t>)</a:t>
                      </a:r>
                      <a:endParaRPr lang="en-US" sz="800" b="1" dirty="0">
                        <a:solidFill>
                          <a:srgbClr val="002060"/>
                        </a:solidFill>
                        <a:latin typeface="Courier New" panose="02070309020205020404" pitchFamily="49" charset="0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en-US" sz="800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eg:  </a:t>
                      </a:r>
                      <a:r>
                        <a:rPr lang="en-US" sz="800" b="1" dirty="0" err="1">
                          <a:solidFill>
                            <a:srgbClr val="660066"/>
                          </a:solidFill>
                          <a:latin typeface="Courier New" panose="02070309020205020404" pitchFamily="49" charset="0"/>
                          <a:sym typeface="+mn-ea"/>
                        </a:rPr>
                        <a:t>lw</a:t>
                      </a:r>
                      <a:r>
                        <a:rPr lang="en-US" sz="800" b="1" dirty="0">
                          <a:latin typeface="Courier New" panose="02070309020205020404" pitchFamily="49" charset="0"/>
                          <a:sym typeface="+mn-ea"/>
                        </a:rPr>
                        <a:t>   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sym typeface="+mn-ea"/>
                        </a:rPr>
                        <a:t>$9(rt)</a:t>
                      </a:r>
                      <a:r>
                        <a:rPr lang="en-US" sz="800" b="1" dirty="0">
                          <a:latin typeface="Courier New" panose="02070309020205020404" pitchFamily="49" charset="0"/>
                          <a:sym typeface="+mn-ea"/>
                        </a:rPr>
                        <a:t>, </a:t>
                      </a:r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sym typeface="+mn-ea"/>
                        </a:rPr>
                        <a:t>12(</a:t>
                      </a:r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+mn-ea"/>
                        </a:rPr>
                        <a:t>immediate</a:t>
                      </a:r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Courier New" panose="02070309020205020404" pitchFamily="49" charset="0"/>
                          <a:sym typeface="+mn-ea"/>
                        </a:rPr>
                        <a:t>)</a:t>
                      </a:r>
                      <a:r>
                        <a:rPr lang="en-US" sz="800" b="1" dirty="0">
                          <a:latin typeface="Courier New" panose="02070309020205020404" pitchFamily="49" charset="0"/>
                          <a:sym typeface="+mn-ea"/>
                        </a:rPr>
                        <a:t>(</a:t>
                      </a:r>
                      <a:r>
                        <a:rPr lang="en-US" sz="800" b="1" dirty="0">
                          <a:solidFill>
                            <a:srgbClr val="006600"/>
                          </a:solidFill>
                          <a:latin typeface="Courier New" panose="02070309020205020404" pitchFamily="49" charset="0"/>
                          <a:sym typeface="+mn-ea"/>
                        </a:rPr>
                        <a:t>$8(rs)</a:t>
                      </a:r>
                      <a:r>
                        <a:rPr lang="en-US" sz="800" b="1" dirty="0">
                          <a:latin typeface="Courier New" panose="02070309020205020404" pitchFamily="49" charset="0"/>
                          <a:sym typeface="+mn-ea"/>
                        </a:rPr>
                        <a:t>)</a:t>
                      </a:r>
                      <a:endParaRPr lang="en-US" sz="800" b="1" dirty="0">
                        <a:latin typeface="Courier New" panose="02070309020205020404" pitchFamily="49" charset="0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sz="800" b="0" dirty="0" err="1">
                          <a:solidFill>
                            <a:srgbClr val="660066"/>
                          </a:solidFill>
                          <a:latin typeface="+mn-ea"/>
                          <a:cs typeface="Courier New" panose="02070309020205020404" pitchFamily="49" charset="0"/>
                          <a:sym typeface="+mn-ea"/>
                        </a:rPr>
                        <a:t>eg:</a:t>
                      </a:r>
                      <a:r>
                        <a:rPr lang="en-US" sz="800" b="1" dirty="0" err="1">
                          <a:solidFill>
                            <a:srgbClr val="660066"/>
                          </a:solidFill>
                          <a:latin typeface="+mn-ea"/>
                          <a:cs typeface="Courier New" panose="02070309020205020404" pitchFamily="49" charset="0"/>
                          <a:sym typeface="+mn-ea"/>
                        </a:rPr>
                        <a:t>  </a:t>
                      </a:r>
                      <a:r>
                        <a:rPr lang="en-US" sz="800" b="1" dirty="0" err="1">
                          <a:solidFill>
                            <a:srgbClr val="660066"/>
                          </a:solidFill>
                          <a:latin typeface="Courier New" panose="02070309020205020404" pitchFamily="49" charset="0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beq  </a:t>
                      </a:r>
                      <a:r>
                        <a:rPr lang="en-US" sz="800" b="1" dirty="0">
                          <a:solidFill>
                            <a:srgbClr val="006600"/>
                          </a:solidFill>
                          <a:latin typeface="Courier New" panose="02070309020205020404" pitchFamily="49" charset="0"/>
                          <a:sym typeface="+mn-ea"/>
                        </a:rPr>
                        <a:t>$9(rs)</a:t>
                      </a:r>
                      <a:r>
                        <a:rPr lang="en-US" sz="800" b="1" dirty="0">
                          <a:latin typeface="Courier New" panose="02070309020205020404" pitchFamily="49" charset="0"/>
                          <a:sym typeface="+mn-ea"/>
                        </a:rPr>
                        <a:t>, 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sym typeface="+mn-ea"/>
                        </a:rPr>
                        <a:t>$0(rt)</a:t>
                      </a:r>
                      <a:r>
                        <a:rPr lang="en-US" sz="800" b="1" dirty="0">
                          <a:latin typeface="Courier New" panose="02070309020205020404" pitchFamily="49" charset="0"/>
                          <a:sym typeface="+mn-ea"/>
                        </a:rPr>
                        <a:t>, End</a:t>
                      </a:r>
                      <a:endParaRPr lang="en-US" sz="800" b="1" dirty="0" err="1">
                        <a:solidFill>
                          <a:srgbClr val="660066"/>
                        </a:solidFill>
                        <a:latin typeface="Courier New" panose="02070309020205020404" pitchFamily="49" charset="0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+mn-ea"/>
                        </a:rPr>
                        <a:t>分支指令的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+mn-ea"/>
                        </a:rPr>
                        <a:t>immediate 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+mn-ea"/>
                        </a:rPr>
                        <a:t>为需跳转的代码行数（注意</a:t>
                      </a:r>
                      <a:r>
                        <a:rPr lang="en-US" altLang="zh-CN" sz="800" b="1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+mn-ea"/>
                        </a:rPr>
                        <a:t>PC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+mn-ea"/>
                        </a:rPr>
                        <a:t>），上减下加</a:t>
                      </a:r>
                      <a:endParaRPr lang="zh-CN" altLang="en-US" sz="800" b="1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8440">
                <a:tc gridSpan="9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800" b="1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J - Format</a:t>
                      </a:r>
                      <a:endParaRPr lang="en-US" altLang="en-US" sz="800" dirty="0" err="1">
                        <a:solidFill>
                          <a:srgbClr val="002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9075">
                <a:tc grid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800" b="1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opcode</a:t>
                      </a:r>
                      <a:endParaRPr lang="en-US" sz="800" b="1" dirty="0" err="1">
                        <a:solidFill>
                          <a:srgbClr val="66006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p>
                      <a:pPr algn="ctr">
                        <a:buNone/>
                      </a:pPr>
                      <a:r>
                        <a:rPr lang="en-US" sz="800" b="1" dirty="0">
                          <a:solidFill>
                            <a:srgbClr val="0066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ascadia Mono SemiLight" panose="020B0609020000020004" charset="0"/>
                          <a:sym typeface="+mn-ea"/>
                        </a:rPr>
                        <a:t>target </a:t>
                      </a:r>
                      <a:r>
                        <a:rPr lang="en-US" sz="800" b="1" dirty="0">
                          <a:solidFill>
                            <a:srgbClr val="0066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address</a:t>
                      </a:r>
                      <a:endParaRPr lang="en-US" altLang="en-US" sz="800" dirty="0" err="1">
                        <a:solidFill>
                          <a:srgbClr val="002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8440">
                <a:tc grid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1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6bits</a:t>
                      </a:r>
                      <a:endParaRPr lang="en-US" altLang="en-US" sz="800" b="1" dirty="0" err="1">
                        <a:solidFill>
                          <a:srgbClr val="66006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800" b="1" dirty="0">
                          <a:solidFill>
                            <a:srgbClr val="0066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ascadia Mono SemiLight" panose="020B0609020000020004" charset="0"/>
                          <a:sym typeface="+mn-ea"/>
                        </a:rPr>
                        <a:t>26</a:t>
                      </a:r>
                      <a:r>
                        <a:rPr lang="en-US" sz="800" b="1" dirty="0">
                          <a:solidFill>
                            <a:srgbClr val="0066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ascadia Mono SemiLight" panose="020B0609020000020004" charset="0"/>
                          <a:sym typeface="+mn-ea"/>
                        </a:rPr>
                        <a:t>bits</a:t>
                      </a:r>
                      <a:endParaRPr lang="en-US" sz="800" b="1" dirty="0">
                        <a:solidFill>
                          <a:srgbClr val="0066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ascadia Mono SemiLight" panose="020B06090200000200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67640" y="7254240"/>
            <a:ext cx="159448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SG" sz="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Identified Control Signals</a:t>
            </a:r>
            <a:endParaRPr lang="en-SG" altLang="en-US" sz="8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11" name="Table 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39065" y="7468235"/>
          <a:ext cx="3395345" cy="233172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759460"/>
                <a:gridCol w="753110"/>
                <a:gridCol w="1882775"/>
              </a:tblGrid>
              <a:tr h="236220">
                <a:tc>
                  <a:txBody>
                    <a:bodyPr/>
                    <a:p>
                      <a:pPr algn="ctr"/>
                      <a:r>
                        <a:rPr lang="en-US" sz="7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Control</a:t>
                      </a:r>
                      <a:r>
                        <a:rPr lang="en-US" sz="700" baseline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Signal</a:t>
                      </a:r>
                      <a:endParaRPr lang="en-US" sz="700" baseline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7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Execution</a:t>
                      </a:r>
                      <a:r>
                        <a:rPr lang="en-US" sz="700" baseline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Stage</a:t>
                      </a:r>
                      <a:endParaRPr lang="en-US" sz="700" baseline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7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Purpose</a:t>
                      </a:r>
                      <a:endParaRPr lang="en-US" sz="7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p>
                      <a:pPr algn="ctr"/>
                      <a:r>
                        <a:rPr lang="en-US" sz="700" b="1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</a:rPr>
                        <a:t>RegDst</a:t>
                      </a:r>
                      <a:endParaRPr lang="en-US" sz="700" b="1" dirty="0" err="1">
                        <a:solidFill>
                          <a:srgbClr val="66006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7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Decode/Operand Fetch</a:t>
                      </a:r>
                      <a:endParaRPr lang="en-US" sz="7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sz="7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Select</a:t>
                      </a:r>
                      <a:r>
                        <a:rPr lang="en-US" sz="700" baseline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the destination register number</a:t>
                      </a:r>
                      <a:endParaRPr lang="en-US" sz="700" baseline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r>
                        <a:rPr lang="en-US" sz="700" baseline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R - Fromat Instruction : </a:t>
                      </a:r>
                      <a:r>
                        <a:rPr lang="en-US" sz="700" b="1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  <a:sym typeface="+mn-ea"/>
                        </a:rPr>
                        <a:t>RegDst =1</a:t>
                      </a:r>
                      <a:endParaRPr lang="en-US" sz="700" b="1" baseline="0" dirty="0" err="1">
                        <a:solidFill>
                          <a:srgbClr val="66006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38125">
                <a:tc>
                  <a:txBody>
                    <a:bodyPr/>
                    <a:p>
                      <a:pPr algn="ctr"/>
                      <a:r>
                        <a:rPr lang="en-US" sz="700" b="1" kern="1200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</a:rPr>
                        <a:t>RegWrite</a:t>
                      </a:r>
                      <a:endParaRPr lang="en-US" sz="700" b="1" kern="1200" dirty="0" err="1">
                        <a:solidFill>
                          <a:srgbClr val="66006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7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Decode/Operand Fetch</a:t>
                      </a:r>
                      <a:endParaRPr lang="en-US" sz="7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en-US" sz="7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RegWrite</a:t>
                      </a:r>
                      <a:endParaRPr lang="en-US" sz="700" dirty="0" err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US" sz="7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Enable</a:t>
                      </a:r>
                      <a:r>
                        <a:rPr lang="en-US" sz="700" baseline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writing of register</a:t>
                      </a:r>
                      <a:endParaRPr lang="en-US" sz="700" baseline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9865">
                <a:tc>
                  <a:txBody>
                    <a:bodyPr/>
                    <a:p>
                      <a:pPr algn="ctr"/>
                      <a:r>
                        <a:rPr lang="en-US" sz="700" b="1" kern="1200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</a:rPr>
                        <a:t>ALUSrc</a:t>
                      </a:r>
                      <a:endParaRPr lang="en-US" sz="700" b="1" kern="1200" dirty="0" err="1">
                        <a:solidFill>
                          <a:srgbClr val="66006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7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ALU</a:t>
                      </a:r>
                      <a:endParaRPr lang="en-US" sz="7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sz="7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Select the 2</a:t>
                      </a:r>
                      <a:r>
                        <a:rPr lang="en-US" sz="700" baseline="30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nd</a:t>
                      </a:r>
                      <a:r>
                        <a:rPr lang="en-US" sz="700" baseline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operand for ALU</a:t>
                      </a:r>
                      <a:endParaRPr lang="en-US" sz="700" baseline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sz="700" b="1" kern="1200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</a:rPr>
                        <a:t>ALUControl</a:t>
                      </a:r>
                      <a:endParaRPr lang="en-US" sz="700" b="1" kern="1200" dirty="0" err="1">
                        <a:solidFill>
                          <a:srgbClr val="66006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7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ALU</a:t>
                      </a:r>
                      <a:endParaRPr lang="en-US" sz="7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US" sz="7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Select the operation to be performed</a:t>
                      </a:r>
                      <a:endParaRPr lang="en-US" sz="7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7015">
                <a:tc>
                  <a:txBody>
                    <a:bodyPr/>
                    <a:p>
                      <a:pPr algn="ctr"/>
                      <a:r>
                        <a:rPr lang="en-US" sz="700" b="1" kern="1200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</a:rPr>
                        <a:t>MemRead</a:t>
                      </a:r>
                      <a:r>
                        <a:rPr lang="en-US" sz="7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/ </a:t>
                      </a:r>
                      <a:r>
                        <a:rPr lang="en-US" sz="700" b="1" kern="1200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</a:rPr>
                        <a:t>MemWrite</a:t>
                      </a:r>
                      <a:endParaRPr lang="en-US" sz="700" b="1" kern="1200" dirty="0" err="1">
                        <a:solidFill>
                          <a:srgbClr val="66006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7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Memory</a:t>
                      </a:r>
                      <a:endParaRPr lang="en-US" sz="7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sz="7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Enable reading/writing</a:t>
                      </a:r>
                      <a:r>
                        <a:rPr lang="en-US" sz="700" baseline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of data memory</a:t>
                      </a:r>
                      <a:endParaRPr lang="en-US" sz="700" baseline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168910">
                <a:tc>
                  <a:txBody>
                    <a:bodyPr/>
                    <a:p>
                      <a:pPr algn="ctr"/>
                      <a:r>
                        <a:rPr lang="en-US" sz="700" b="1" kern="1200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</a:rPr>
                        <a:t>MemToReg</a:t>
                      </a:r>
                      <a:endParaRPr lang="en-US" sz="700" b="1" kern="1200" dirty="0" err="1">
                        <a:solidFill>
                          <a:srgbClr val="66006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7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RegWrite</a:t>
                      </a:r>
                      <a:endParaRPr lang="en-US" sz="700" dirty="0" err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US" sz="7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Select the result to be written back to register </a:t>
                      </a:r>
                      <a:endParaRPr lang="en-US" sz="7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345">
                <a:tc>
                  <a:txBody>
                    <a:bodyPr/>
                    <a:p>
                      <a:pPr algn="ctr"/>
                      <a:r>
                        <a:rPr lang="en-US" sz="700" b="1" kern="1200" dirty="0" err="1">
                          <a:solidFill>
                            <a:srgbClr val="6600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Courier New" panose="02070309020205020404" pitchFamily="49" charset="0"/>
                        </a:rPr>
                        <a:t>PCSrc</a:t>
                      </a:r>
                      <a:endParaRPr lang="en-US" sz="700" b="1" kern="1200" dirty="0" err="1">
                        <a:solidFill>
                          <a:srgbClr val="66006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7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Memory/</a:t>
                      </a:r>
                      <a:r>
                        <a:rPr lang="en-US" sz="7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RegWrite</a:t>
                      </a:r>
                      <a:endParaRPr lang="en-US" sz="700" dirty="0" err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sz="7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Select the next PC value</a:t>
                      </a:r>
                      <a:endParaRPr lang="en-US" sz="7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3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73450" y="266700"/>
            <a:ext cx="3253740" cy="2080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9" name="图片 318"/>
          <p:cNvPicPr>
            <a:picLocks noChangeAspect="1"/>
          </p:cNvPicPr>
          <p:nvPr/>
        </p:nvPicPr>
        <p:blipFill>
          <a:blip r:embed="rId4"/>
          <a:srcRect t="2740"/>
          <a:stretch>
            <a:fillRect/>
          </a:stretch>
        </p:blipFill>
        <p:spPr>
          <a:xfrm>
            <a:off x="3562350" y="2471420"/>
            <a:ext cx="3201670" cy="721360"/>
          </a:xfrm>
          <a:prstGeom prst="rect">
            <a:avLst/>
          </a:prstGeom>
        </p:spPr>
      </p:pic>
      <p:graphicFrame>
        <p:nvGraphicFramePr>
          <p:cNvPr id="320" name="Group 85"/>
          <p:cNvGraphicFramePr/>
          <p:nvPr>
            <p:custDataLst>
              <p:tags r:id="rId5"/>
            </p:custDataLst>
          </p:nvPr>
        </p:nvGraphicFramePr>
        <p:xfrm>
          <a:off x="3641090" y="3317240"/>
          <a:ext cx="1428750" cy="1493520"/>
        </p:xfrm>
        <a:graphic>
          <a:graphicData uri="http://schemas.openxmlformats.org/drawingml/2006/table">
            <a:tbl>
              <a:tblPr/>
              <a:tblGrid>
                <a:gridCol w="774700"/>
                <a:gridCol w="654050"/>
              </a:tblGrid>
              <a:tr h="2133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ALUcontrol</a:t>
                      </a:r>
                      <a:endParaRPr kumimoji="0" lang="en-US" sz="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1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cs typeface="Courier New" panose="02070309020205020404" pitchFamily="49" charset="0"/>
                        </a:rPr>
                        <a:t>0000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cs typeface="Courier New" panose="02070309020205020404" pitchFamily="49" charset="0"/>
                      </a:endParaRPr>
                    </a:p>
                  </a:txBody>
                  <a:tcPr marL="361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33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cs typeface="Courier New" panose="02070309020205020404" pitchFamily="49" charset="0"/>
                        </a:rPr>
                        <a:t>0001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cs typeface="Courier New" panose="02070309020205020404" pitchFamily="49" charset="0"/>
                      </a:endParaRPr>
                    </a:p>
                  </a:txBody>
                  <a:tcPr marL="361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33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cs typeface="Courier New" panose="02070309020205020404" pitchFamily="49" charset="0"/>
                        </a:rPr>
                        <a:t>0010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cs typeface="Courier New" panose="02070309020205020404" pitchFamily="49" charset="0"/>
                      </a:endParaRPr>
                    </a:p>
                  </a:txBody>
                  <a:tcPr marL="361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33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cs typeface="Courier New" panose="02070309020205020404" pitchFamily="49" charset="0"/>
                        </a:rPr>
                        <a:t>0110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cs typeface="Courier New" panose="02070309020205020404" pitchFamily="49" charset="0"/>
                      </a:endParaRPr>
                    </a:p>
                  </a:txBody>
                  <a:tcPr marL="361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subtract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33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cs typeface="Courier New" panose="02070309020205020404" pitchFamily="49" charset="0"/>
                        </a:rPr>
                        <a:t>0111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cs typeface="Courier New" panose="02070309020205020404" pitchFamily="49" charset="0"/>
                      </a:endParaRPr>
                    </a:p>
                  </a:txBody>
                  <a:tcPr marL="361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slt</a:t>
                      </a:r>
                      <a:endParaRPr kumimoji="0" lang="en-US" sz="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33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cs typeface="Courier New" panose="02070309020205020404" pitchFamily="49" charset="0"/>
                        </a:rPr>
                        <a:t>1100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cs typeface="Courier New" panose="02070309020205020404" pitchFamily="49" charset="0"/>
                      </a:endParaRPr>
                    </a:p>
                  </a:txBody>
                  <a:tcPr marL="361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TABLE_ENDDRAG_ORIGIN_RECT" val="240*30"/>
  <p:tag name="TABLE_ENDDRAG_RECT" val="79*320*240*30"/>
</p:tagLst>
</file>

<file path=ppt/tags/tag2.xml><?xml version="1.0" encoding="utf-8"?>
<p:tagLst xmlns:p="http://schemas.openxmlformats.org/presentationml/2006/main">
  <p:tag name="TABLE_ENDDRAG_ORIGIN_RECT" val="265*236"/>
  <p:tag name="TABLE_ENDDRAG_RECT" val="13*327*265*236"/>
</p:tagLst>
</file>

<file path=ppt/tags/tag3.xml><?xml version="1.0" encoding="utf-8"?>
<p:tagLst xmlns:p="http://schemas.openxmlformats.org/presentationml/2006/main">
  <p:tag name="TABLE_ENDDRAG_ORIGIN_RECT" val="266*183"/>
  <p:tag name="TABLE_ENDDRAG_RECT" val="10*588*266*183"/>
</p:tagLst>
</file>

<file path=ppt/tags/tag4.xml><?xml version="1.0" encoding="utf-8"?>
<p:tagLst xmlns:p="http://schemas.openxmlformats.org/presentationml/2006/main">
  <p:tag name="TABLE_ENDDRAG_ORIGIN_RECT" val="193*105"/>
  <p:tag name="TABLE_ENDDRAG_RECT" val="336*338*193*105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8263</Words>
  <Application>WPS 演示</Application>
  <PresentationFormat>宽屏</PresentationFormat>
  <Paragraphs>682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Courier New</vt:lpstr>
      <vt:lpstr>Helvetica</vt:lpstr>
      <vt:lpstr>Cascadia Mono SemiLight</vt:lpstr>
      <vt:lpstr>Verdana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Fu</dc:creator>
  <cp:lastModifiedBy>Flyan.Fu</cp:lastModifiedBy>
  <cp:revision>16</cp:revision>
  <dcterms:created xsi:type="dcterms:W3CDTF">2023-08-09T12:44:00Z</dcterms:created>
  <dcterms:modified xsi:type="dcterms:W3CDTF">2025-09-29T14:11:47Z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E50FF8C5E83E4410B203374FF31F42D4_12</vt:lpwstr>
  </property>
</Properties>
</file>