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0691495" cy="7559675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5266" y="857250"/>
            <a:ext cx="327347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57" y="1237344"/>
            <a:ext cx="8019345" cy="2632199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57" y="3971050"/>
            <a:ext cx="8019345" cy="1825387"/>
          </a:xfrm>
        </p:spPr>
        <p:txBody>
          <a:bodyPr/>
          <a:lstStyle>
            <a:lvl1pPr marL="0" indent="0" algn="ctr">
              <a:buNone/>
              <a:defRPr sz="2645"/>
            </a:lvl1pPr>
            <a:lvl2pPr marL="503555" indent="0" algn="ctr">
              <a:buNone/>
              <a:defRPr sz="2205"/>
            </a:lvl2pPr>
            <a:lvl3pPr marL="1008380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19680" indent="0" algn="ctr">
              <a:buNone/>
              <a:defRPr sz="1765"/>
            </a:lvl6pPr>
            <a:lvl7pPr marL="3024505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38" y="1884893"/>
            <a:ext cx="9222246" cy="3144987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38" y="5059632"/>
            <a:ext cx="9222246" cy="1653875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355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38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1968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450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108" y="2012652"/>
            <a:ext cx="4544295" cy="4797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3059" y="2012652"/>
            <a:ext cx="4544295" cy="4797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00" y="402530"/>
            <a:ext cx="9222246" cy="146136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500" y="1853391"/>
            <a:ext cx="4523411" cy="908318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8380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4505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500" y="2761708"/>
            <a:ext cx="4523411" cy="40620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3059" y="1853391"/>
            <a:ext cx="4545687" cy="908318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3555" indent="0">
              <a:buNone/>
              <a:defRPr sz="2205" b="1"/>
            </a:lvl2pPr>
            <a:lvl3pPr marL="1008380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19680" indent="0">
              <a:buNone/>
              <a:defRPr sz="1765" b="1"/>
            </a:lvl6pPr>
            <a:lvl7pPr marL="3024505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3059" y="2761708"/>
            <a:ext cx="4545687" cy="406205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00" y="504038"/>
            <a:ext cx="3448595" cy="1764134"/>
          </a:xfrm>
        </p:spPr>
        <p:txBody>
          <a:bodyPr anchor="b"/>
          <a:lstStyle>
            <a:lvl1pPr>
              <a:defRPr sz="35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687" y="1088583"/>
            <a:ext cx="5413059" cy="5372906"/>
          </a:xfrm>
        </p:spPr>
        <p:txBody>
          <a:bodyPr/>
          <a:lstStyle>
            <a:lvl1pPr>
              <a:defRPr sz="3525"/>
            </a:lvl1pPr>
            <a:lvl2pPr>
              <a:defRPr sz="3085"/>
            </a:lvl2pPr>
            <a:lvl3pPr>
              <a:defRPr sz="2645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00" y="2268171"/>
            <a:ext cx="3448595" cy="4202068"/>
          </a:xfrm>
        </p:spPr>
        <p:txBody>
          <a:bodyPr/>
          <a:lstStyle>
            <a:lvl1pPr marL="0" indent="0">
              <a:buNone/>
              <a:defRPr sz="1765"/>
            </a:lvl1pPr>
            <a:lvl2pPr marL="503555" indent="0">
              <a:buNone/>
              <a:defRPr sz="1540"/>
            </a:lvl2pPr>
            <a:lvl3pPr marL="1008380" indent="0">
              <a:buNone/>
              <a:defRPr sz="1320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19680" indent="0">
              <a:buNone/>
              <a:defRPr sz="1100"/>
            </a:lvl6pPr>
            <a:lvl7pPr marL="3024505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00" y="504038"/>
            <a:ext cx="3448595" cy="1764134"/>
          </a:xfrm>
        </p:spPr>
        <p:txBody>
          <a:bodyPr anchor="b"/>
          <a:lstStyle>
            <a:lvl1pPr>
              <a:defRPr sz="35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687" y="1088583"/>
            <a:ext cx="5413059" cy="5372906"/>
          </a:xfrm>
        </p:spPr>
        <p:txBody>
          <a:bodyPr/>
          <a:lstStyle>
            <a:lvl1pPr marL="0" indent="0">
              <a:buNone/>
              <a:defRPr sz="3525"/>
            </a:lvl1pPr>
            <a:lvl2pPr marL="503555" indent="0">
              <a:buNone/>
              <a:defRPr sz="3085"/>
            </a:lvl2pPr>
            <a:lvl3pPr marL="1008380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19680" indent="0">
              <a:buNone/>
              <a:defRPr sz="2205"/>
            </a:lvl6pPr>
            <a:lvl7pPr marL="3024505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00" y="2268171"/>
            <a:ext cx="3448595" cy="4202068"/>
          </a:xfrm>
        </p:spPr>
        <p:txBody>
          <a:bodyPr/>
          <a:lstStyle>
            <a:lvl1pPr marL="0" indent="0">
              <a:buNone/>
              <a:defRPr sz="1765"/>
            </a:lvl1pPr>
            <a:lvl2pPr marL="503555" indent="0">
              <a:buNone/>
              <a:defRPr sz="1540"/>
            </a:lvl2pPr>
            <a:lvl3pPr marL="1008380" indent="0">
              <a:buNone/>
              <a:defRPr sz="1320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19680" indent="0">
              <a:buNone/>
              <a:defRPr sz="1100"/>
            </a:lvl6pPr>
            <a:lvl7pPr marL="3024505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1791" y="402530"/>
            <a:ext cx="2305562" cy="640723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108" y="402530"/>
            <a:ext cx="6783029" cy="640723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108" y="402530"/>
            <a:ext cx="9222246" cy="14613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108" y="2012652"/>
            <a:ext cx="9222246" cy="4797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108" y="7007529"/>
            <a:ext cx="2405803" cy="4025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1879" y="7007529"/>
            <a:ext cx="3608705" cy="4025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1551" y="7007529"/>
            <a:ext cx="2405803" cy="4025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8380" rtl="0" eaLnBrk="1" latinLnBrk="0" hangingPunct="1">
        <a:lnSpc>
          <a:spcPct val="90000"/>
        </a:lnSpc>
        <a:spcBef>
          <a:spcPct val="0"/>
        </a:spcBef>
        <a:buNone/>
        <a:defRPr sz="4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95" indent="-252095" algn="l" defTabSz="1008380" rtl="0" eaLnBrk="1" latinLnBrk="0" hangingPunct="1">
        <a:lnSpc>
          <a:spcPct val="90000"/>
        </a:lnSpc>
        <a:spcBef>
          <a:spcPct val="221000"/>
        </a:spcBef>
        <a:buFont typeface="Arial" panose="020B0604020202020204" pitchFamily="34" charset="0"/>
        <a:buChar char="•"/>
        <a:defRPr sz="3085" kern="1200">
          <a:solidFill>
            <a:schemeClr val="tx1"/>
          </a:solidFill>
          <a:latin typeface="+mn-lt"/>
          <a:ea typeface="+mn-ea"/>
          <a:cs typeface="+mn-cs"/>
        </a:defRPr>
      </a:lvl1pPr>
      <a:lvl2pPr marL="75628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25984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39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2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41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790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345" indent="-252095" algn="l" defTabSz="100838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355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38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1968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505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838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1620" y="133350"/>
            <a:ext cx="2685415" cy="9645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2073231" y="-1935135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7" name="矩形 6"/>
          <p:cNvSpPr/>
          <p:nvPr/>
        </p:nvSpPr>
        <p:spPr>
          <a:xfrm>
            <a:off x="12268838" y="-1935770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2664000" y="-635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5346000" y="0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8028000" y="-635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0" y="0"/>
            <a:ext cx="2709545" cy="283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RDBMS </a:t>
            </a:r>
            <a:r>
              <a:rPr lang="zh-CN" alt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关系数据库管理系统简介</a:t>
            </a:r>
            <a:endParaRPr lang="zh-CN" alt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自20世纪70年代以来最流行的数据库管理系统都是关系型的。这些系统实现了埃德加·F·科德提出的关系模型——一种基于表格化关系实现的简洁而严谨的数据模型。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它们支持一种用于定义、操作、查询和控制的语言，该语言与国际标准的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语言存在交集。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Popular Systems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主流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收费：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ORACLE, IBM-DB2, MS-SQL Server, SYBASE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免费：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PostgreSQL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SQLite,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MySQL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Maria DB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Client-Server Architecture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架构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自20世纪70年代以来，最流行的关系型数据库管理系统普遍采用客户端-服务器架构，用于管理和控制对二级存储中（通常是海量的）持久性数据的分布式并发访问。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Three-Tier Architecture 三层架构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大多数现代数据库应用程序采用三层架构。这种架构是一种客户端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服务器软件体系结构，将应用程序在逻辑和物理上划分为三个独立层级：表示层（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客户端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）、业务逻辑层（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应用服务器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）以及数据层（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数据库服务器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数据库库模型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Relational model in Theory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理论关系模型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理论上，关系模型建议将数据组织在关系中。关系具有名称和属性。属性拥有各自的名称。从数学角度而言，关系是其属性域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(domains of their attributes)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笛卡尔积的子集。域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(domain)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是类型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(types)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的扩展。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Relation in Practice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表格是行（或称记录）的多重集合（而非列表/集合）。行或记录包含与表格列相对应的字段。列（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Columns or fields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）具有名称。列或字段还通过创建语句中的顺序隐含位置信息。列或字段具有定义域——该类型除基本取值范围外，还包含NULL值的可能性。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DatabaseLogicalDesign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数据库逻辑设计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数据库逻辑设计逻辑设计是为数据库应用程序选择合适模式的活动。主要包括确定表的数量、表名、每个表应包含的列数，以及列名和列域。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-3810" y="2832735"/>
            <a:ext cx="2705100" cy="25495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Table Creation &amp; Recreation  </a:t>
            </a:r>
            <a:r>
              <a:rPr lang="zh-CN" altLang="en-US" sz="9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表格创建与撤建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常用变量类型：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VARCHAR(), CHAR(), NUMERIC</a:t>
            </a:r>
            <a:r>
              <a:rPr lang="zh-CN" altLang="en-US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DATE</a:t>
            </a:r>
            <a:r>
              <a:rPr lang="zh-CN" altLang="en-US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TIME, INTEGER</a:t>
            </a:r>
            <a:r>
              <a:rPr lang="zh-CN" altLang="en-US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BOOLEAN: true/false/null</a:t>
            </a:r>
            <a:endParaRPr lang="en-US" altLang="zh-CN" sz="600" b="1">
              <a:solidFill>
                <a:schemeClr val="accent3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Integrity Constraints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完整性约束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数据库的一致状态是指符合业务规则的状态，这些规则由模式中的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structural constraints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integrity constraints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所定义。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支持的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种完整性约束：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NOT NULL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非空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只能以列约束形式声明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（跟在变量后面）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PRIMARY KEY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主键：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唯一标识行，一个表一般有且仅有有一个主键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UNIQUE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唯一：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FOREIGN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KEY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外键：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检查引用表中该组值的存在性。为便于移植，被引用列需设为主键。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CHECK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检查：可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被声明为列约束或表约束。如果该条件涉及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多个列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，则应作为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表约束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表格操作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TABLE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tablename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();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创建表格</a:t>
            </a:r>
            <a:endParaRPr lang="en-US" altLang="zh-CN" sz="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DELETE FROM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tablename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清空表格内容</a:t>
            </a:r>
            <a:endParaRPr lang="en-US" altLang="zh-CN" sz="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DROP TABLE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tablename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删除表格</a:t>
            </a:r>
            <a:endParaRPr lang="en-US" altLang="zh-CN" sz="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Deferrable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Constraints 延迟约束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DEFERRABLE INITIALLY DEFERRED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默认延迟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CASCADE propagate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级联传播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 UPDATE/DELETE CASCADE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级联更新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删除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级联传播方向是单向的：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只有改主表才会影响从表。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其他可能引起链式反应的操作：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 ACTION, SET DEFAULT, SET NULL</a:t>
            </a:r>
            <a:endParaRPr lang="en-US" altLang="zh-CN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en-US" altLang="zh-CN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268838" y="9618829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20" name="矩形 19"/>
          <p:cNvSpPr/>
          <p:nvPr/>
        </p:nvSpPr>
        <p:spPr>
          <a:xfrm>
            <a:off x="-2073231" y="9618829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22" name="文本框 21"/>
          <p:cNvSpPr txBox="1"/>
          <p:nvPr/>
        </p:nvSpPr>
        <p:spPr>
          <a:xfrm>
            <a:off x="0" y="5417820"/>
            <a:ext cx="2709545" cy="1336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Simple Query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简单查询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SELECT-FROM-WHERE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子句用于指定输出的列，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子句用于指定查询的表，以及可选的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子句用于设定输出记录的条件限制。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Wildcard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通配符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%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匹配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个、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个或无限多个任意字符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_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匹配任意单个字符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accent3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Asterisk)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表示在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SELECT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子句中应考虑按照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TABLE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声明顺序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排列的所有列名。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Ordering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排序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关键字：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默认情况下，排序按照升序而非降序，语句未提及的列不会进行排序。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ASC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为升序，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DESC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为降序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去重关键字：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多数情况下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返回的是排序后的结果，但不能保证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如此。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ORDER BY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会先于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</a:t>
            </a:r>
            <a:endParaRPr lang="zh-CN" altLang="en-US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20" y="6753860"/>
            <a:ext cx="1402080" cy="76136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0" y="6734810"/>
            <a:ext cx="1263015" cy="7207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子句的条件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子句用于根据布尔条件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逐行筛选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。该布尔条件使用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和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NOT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等布尔运算符，以及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&gt;、&lt;、&gt;=、&lt;=、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&lt;&gt;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LIKE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和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BETWEEN .. AND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等各种比较运算符。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65730" y="0"/>
            <a:ext cx="2679700" cy="611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PostgreSQL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中的运算符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在SELECT和WHERE子句（以及ORDER BY、GROUP BY和HAVING子句）中可以使用算术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运算符及其他函数。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是重命名运算符；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| |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是连接运算符；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CASE-WHEN-THEN-ELSE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相当于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if-else(</a:t>
            </a:r>
            <a:r>
              <a:rPr lang="zh-CN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不推荐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的含义：未知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365" y="575945"/>
            <a:ext cx="1628775" cy="45085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 t="19784" b="39069"/>
          <a:stretch>
            <a:fillRect/>
          </a:stretch>
        </p:blipFill>
        <p:spPr>
          <a:xfrm>
            <a:off x="2705735" y="612140"/>
            <a:ext cx="942340" cy="28194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rcRect l="56963" t="85337"/>
          <a:stretch>
            <a:fillRect/>
          </a:stretch>
        </p:blipFill>
        <p:spPr>
          <a:xfrm>
            <a:off x="3718560" y="1031240"/>
            <a:ext cx="1300480" cy="14541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560" y="894080"/>
            <a:ext cx="629920" cy="1651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8750" y="1059180"/>
            <a:ext cx="1016000" cy="10922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666365" y="1136015"/>
            <a:ext cx="26784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关于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的运算符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 NULL, IS NOT NULL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用于检查是否为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COALESCE(x1, x2, x3, ...)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返回参数中从左到右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第一个非NULL值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COALESCE(NULL, NULL, NULL)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得到的是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NULL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想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到带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的行，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中不能用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要用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 NULL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关于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的聚合函数计算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"COUNT(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)"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会计数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"COUNT(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)", "AVG(att)", "MAX(att)", "MIN(att)"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会移除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63190" y="1905635"/>
            <a:ext cx="2680335" cy="568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PostgreSQL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多表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CrossProduct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叉积（笛卡尔积）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表的笛卡尔积是指包含所有列及三个表中所有可能行组合的表。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子句中的逗号是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CROSS 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关键字的便捷简写形式。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Conditional Join 条件连接 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+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条件进行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47315" y="2408555"/>
            <a:ext cx="271208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Aggregation Queries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聚合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查询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Aggregation Functions </a:t>
            </a:r>
            <a:r>
              <a:rPr lang="zh-CN" altLang="en-US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聚合函数</a:t>
            </a:r>
            <a:endParaRPr lang="en-US" altLang="zh-CN" sz="7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常用函数有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COUNT()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SUM()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MAX()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MIN()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AVG()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STDDEV()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等。这些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函数运算时，有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值则移除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值，若全为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则返回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TRUNC()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函数可用于保留指定位数的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有效数字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6690" y="2985770"/>
            <a:ext cx="2418080" cy="30734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653030" y="3281680"/>
            <a:ext cx="2699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Grouping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分组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结合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可分组聚合计算。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 在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筛选出行后，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计算聚合函数之前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，会先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根据指定字段创建具有相同值的记录逻辑组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重命名后的列也可用于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</a:t>
            </a:r>
            <a:r>
              <a:rPr lang="zh-CN" altLang="en-US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，分组与顺序无关，可</a:t>
            </a:r>
            <a:r>
              <a:rPr lang="zh-CN" altLang="en-US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重新排序</a:t>
            </a:r>
            <a:endParaRPr lang="zh-CN" altLang="en-US" sz="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8750" y="3726180"/>
            <a:ext cx="2626995" cy="51371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2682240" y="4233545"/>
            <a:ext cx="2670175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聚合函数可用于条件判断，但不可用于WHERE子句。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因为聚合函数需在分组形成后（即在WHERE子句执行后）才能进行计算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。因此有了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该子句在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子句之后执行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640965" y="4672965"/>
            <a:ext cx="2705100" cy="548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LogicalEvaluation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逻辑评估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顺序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 -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选取表格，进行连接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——&gt; 2.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逐行筛选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——&gt;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GROUP BY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进行分组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——&gt; 4.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 -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按分组筛选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——&gt;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-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——&gt; 6.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ORDER BY -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进行排序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——&gt; 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 -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去重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40965" y="5196840"/>
            <a:ext cx="2729230" cy="1583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Joins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INNER JOIN 内连接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（结果为交集）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只写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，默认为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INNER 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，等同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 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操作中，条件的顺序很重要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。与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 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不同，因此推荐使用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逗号。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NATURAL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JOIN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自然连接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自动等值匹配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若不同表中含义相同的列被赋予相同的属性（通用关系），就可以使用自然连接。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NATURAL JOIN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会连接那些在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相同名称列上具有相同值的行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，并且只输出两个相同列中的一个。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OUTER JOIN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外连接（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LEFT/RIGHT/FULL)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（保留未匹配列用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填充）</a:t>
            </a:r>
            <a:endParaRPr lang="en-US" altLang="zh-CN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外连接会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左表（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 ~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）、右表（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RIGHT~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）或两表（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FULL~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）中那些根据连接条件在另一表中找不到匹配项的行（即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悬垂行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其余值则用NULL填充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。外连接也存在自然变体。例如，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NATURAL LEFT OUTER JOIN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就是左连接的自然版本。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【注意】悬垂行的定义仅与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子句中的条件相关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。将条件移至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子句会导致不同的输出结果（</a:t>
            </a:r>
            <a:r>
              <a:rPr lang="en-US" altLang="zh-CN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 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先执行会删除</a:t>
            </a:r>
            <a:r>
              <a:rPr lang="zh-CN" altLang="en-US" sz="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悬垂行）</a:t>
            </a:r>
            <a:endParaRPr lang="zh-CN" altLang="en-US" sz="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LEFT/ RIGHT/FULL JOIN 等同于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LEFT/ RIGHT/FULL OUTER JOIN</a:t>
            </a:r>
            <a:endParaRPr lang="en-US" altLang="zh-CN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10"/>
          <a:srcRect r="6299"/>
          <a:stretch>
            <a:fillRect/>
          </a:stretch>
        </p:blipFill>
        <p:spPr>
          <a:xfrm>
            <a:off x="2649220" y="6753860"/>
            <a:ext cx="2693670" cy="73279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5308600" y="-6350"/>
            <a:ext cx="2693035" cy="198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Anti Join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反连接（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选取悬垂行）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7957820" y="0"/>
            <a:ext cx="2803525" cy="6171565"/>
            <a:chOff x="8338" y="1853"/>
            <a:chExt cx="4415" cy="9719"/>
          </a:xfrm>
        </p:grpSpPr>
        <p:pic>
          <p:nvPicPr>
            <p:cNvPr id="56" name="图片 5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38" y="7172"/>
              <a:ext cx="4279" cy="1241"/>
            </a:xfrm>
            <a:prstGeom prst="rect">
              <a:avLst/>
            </a:prstGeom>
          </p:spPr>
        </p:pic>
        <p:sp>
          <p:nvSpPr>
            <p:cNvPr id="53" name="文本框 52"/>
            <p:cNvSpPr txBox="1"/>
            <p:nvPr/>
          </p:nvSpPr>
          <p:spPr>
            <a:xfrm>
              <a:off x="8357" y="1853"/>
              <a:ext cx="4254" cy="308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Entity-Relationship Diagram </a:t>
              </a:r>
              <a:r>
                <a:rPr lang="zh-CN" altLang="en-US" sz="9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实体关系图</a:t>
              </a:r>
              <a:endPara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7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基本要素及概念</a:t>
              </a:r>
              <a:endPara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实体</a:t>
              </a:r>
              <a:r>
                <a:rPr lang="en-US" altLang="zh-CN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(Entities)</a:t>
              </a:r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：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通过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方框表示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的可识别的事物集合</a:t>
              </a:r>
              <a:endParaRPr lang="zh-CN" altLang="en-US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属性 (Attributes)：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同一实体集中的实体拥有相同的属性</a:t>
              </a:r>
              <a:endParaRPr lang="zh-CN" altLang="en-US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 (Relationships)：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关系用于关联两个或多个实体</a:t>
              </a:r>
              <a:r>
                <a:rPr lang="en-US" altLang="zh-CN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，用菱形表示一组关系或关系集。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矩形实体只能连接到菱形关系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lang="zh-CN" altLang="en-US" sz="6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唯一的例外是关系连接关系的属性</a:t>
              </a:r>
              <a:endParaRPr lang="zh-CN" altLang="en-US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关系的属性：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关系本身也可以拥有属性，同样的同一关系集中的所有关系都具有相同的属性，这些属性依赖于相关联的实体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n元关系 (n-Ary Relationships)：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关系可以关联超过两个实体集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聚合 (Aggregation)：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将一个关系集视为一个实体集，以便它可以参与另一个关系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标识（Identities）：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一个或多个属性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可以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唯一标识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一个实体，在图中用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黑点表示</a:t>
              </a:r>
              <a:r>
                <a:rPr lang="en-US" altLang="zh-CN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候选键（Candidate）：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所有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Identities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的集合也被称为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候选键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。在</a:t>
              </a:r>
              <a:r>
                <a:rPr lang="en-US" altLang="zh-CN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ER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图中，只有实体集才能拥有身份（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关系集上没有黑点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）。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多重键（MultiKey）：</a:t>
              </a:r>
              <a:r>
                <a:rPr lang="zh-CN" altLang="en-US" sz="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一个实体可能有多个标识（候选键），设计时应选择属性最少的组合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弱实体 (Weak Entities)：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有些实体无法单独被识别（如学生的学号在不同大学可能重复），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必须依赖于另一个主导实体（如大学）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endParaRPr lang="zh-CN" altLang="en-US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285" y="5104"/>
              <a:ext cx="1341" cy="19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70" y="4926"/>
              <a:ext cx="4162" cy="207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基数 (Cardinality)：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关系中参与的约束，用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(min, max) 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表示，如 (0, n) 或 (1, 1)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基数的分类</a:t>
              </a:r>
              <a:endPara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(1, x) 代表强制参与，(0, x) 代表可选参与 。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根据两边的基数可分为一对一、一对多、多对多关系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弱实体必须以</a:t>
              </a:r>
              <a:r>
                <a:rPr lang="en-US" altLang="zh-CN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(1, 1) 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的基数强制参与到主导实体</a:t>
              </a:r>
              <a:endPara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的关系中</a:t>
              </a:r>
              <a:r>
                <a:rPr lang="en-US" altLang="zh-CN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7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图表转换规则</a:t>
              </a:r>
              <a:endPara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规则 #1。值集映射为域（Domain）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规则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#2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。实体集映射为关系（表）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实体集的属性被映射为关系的属性。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候选键被映射为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主键和唯一非空约束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规则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#3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。关系集映射为关系（表）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关系表的属性：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关系自身属性</a:t>
              </a:r>
              <a:r>
                <a:rPr lang="en-US" altLang="zh-CN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+ 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参与实体的键（外键）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8387" y="8476"/>
              <a:ext cx="4258" cy="112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pPr algn="l">
                <a:buClrTx/>
                <a:buSzTx/>
                <a:buFontTx/>
              </a:pPr>
              <a:r>
                <a:rPr lang="zh-CN" altLang="en-US" sz="7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图表转换例外</a:t>
              </a:r>
              <a:endPara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错误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：基数（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）变成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对多关系的错误转换</a:t>
              </a:r>
              <a:endPara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修正做法：将</a:t>
              </a:r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关系表</a:t>
              </a: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中的</a:t>
              </a:r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组合主键（两个外键组成）</a:t>
              </a: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改为</a:t>
              </a:r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单主键</a:t>
              </a:r>
              <a:endPara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错误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：由于分开建表，基数（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，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）的关系约束无法实施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修正做法：</a:t>
              </a: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将</a:t>
              </a:r>
              <a:r>
                <a:rPr lang="zh-CN" altLang="en-US" sz="6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实体和关系合并</a:t>
              </a:r>
              <a:r>
                <a:rPr lang="zh-CN" altLang="en-US" sz="60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到一张表中，并施加非空约束</a:t>
              </a:r>
              <a:endPara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错误</a:t>
              </a:r>
              <a:r>
                <a:rPr lang="en-US" altLang="zh-CN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：弱实体的关系集只使用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部分键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做主键</a:t>
              </a:r>
              <a:r>
                <a:rPr lang="zh-CN" altLang="en-US" sz="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无法唯一标识记录</a:t>
              </a:r>
              <a:endPara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algn="l">
                <a:buClrTx/>
                <a:buSzTx/>
                <a:buFontTx/>
              </a:pP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修正做法：在表中加入主导实体的主键作为外键，并将其纳入联合主键</a:t>
              </a:r>
              <a:endPara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pic>
          <p:nvPicPr>
            <p:cNvPr id="58" name="图片 57"/>
            <p:cNvPicPr>
              <a:picLocks noChangeAspect="1"/>
            </p:cNvPicPr>
            <p:nvPr/>
          </p:nvPicPr>
          <p:blipFill>
            <a:blip r:embed="rId13"/>
            <a:srcRect r="1307"/>
            <a:stretch>
              <a:fillRect/>
            </a:stretch>
          </p:blipFill>
          <p:spPr>
            <a:xfrm>
              <a:off x="8451" y="9629"/>
              <a:ext cx="4157" cy="1481"/>
            </a:xfrm>
            <a:prstGeom prst="rect">
              <a:avLst/>
            </a:prstGeom>
          </p:spPr>
        </p:pic>
        <p:sp>
          <p:nvSpPr>
            <p:cNvPr id="59" name="文本框 58"/>
            <p:cNvSpPr txBox="1"/>
            <p:nvPr/>
          </p:nvSpPr>
          <p:spPr>
            <a:xfrm>
              <a:off x="8357" y="11110"/>
              <a:ext cx="4397" cy="46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图中，融合表的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ename</a:t>
              </a:r>
              <a:r>
                <a:rPr lang="zh-CN" altLang="en-US" sz="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（部分键）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为主键，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cname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仅做外键，使得不同公司的员工号不能相同。需将主导实体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company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的</a:t>
              </a:r>
              <a:r>
                <a:rPr lang="en-US" altLang="zh-CN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cname</a:t>
              </a:r>
              <a:r>
                <a:rPr lang="zh-CN" altLang="en-US" sz="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也纳入主键解决此问题</a:t>
              </a:r>
              <a:endPara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62" name="文本框 61"/>
          <p:cNvSpPr txBox="1"/>
          <p:nvPr/>
        </p:nvSpPr>
        <p:spPr>
          <a:xfrm>
            <a:off x="5309235" y="1097915"/>
            <a:ext cx="2753995" cy="2322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Nested Queries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嵌套查询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Splitting Query </a:t>
            </a:r>
            <a:r>
              <a:rPr lang="zh-CN" altLang="en-US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拆分查询</a:t>
            </a:r>
            <a:r>
              <a:rPr lang="en-US" altLang="zh-CN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写法拆分，逻辑嵌套</a:t>
            </a:r>
            <a:r>
              <a:rPr lang="en-US" altLang="zh-CN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8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Permanent Copy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永久拷贝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可以通过子查询创建一个新表来保存副本，之后可以像查询普通表一样查询这个新表。语法：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TABLE ... AS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Temporary Copy 临时拷贝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可以通过子查询创建一个临时表，临时表仅在当前数据库会话 (Session) 期间存在。语法：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TEMPORARY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TABLE ... AS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 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拷贝的不变性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无论是永久还是临时拷贝，当基础表（原表）发生变化（如插入、删除、更新）时，拷贝的表不会随之改变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View 视图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视图解决了拷贝不更新的问题，当基础表改变时，视图会反映这些变化（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因为视图通常是未物化的，每次查询时重新计算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）语法：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VIEW ... AS SELECT ...</a:t>
            </a:r>
            <a:endParaRPr lang="zh-CN" altLang="en-US" sz="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Common Table Expression (CTE)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公用表表达式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CTE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是子查询的一种副本，它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仅在当前查询的执行期间存在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语法结构：使用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WITH ... AS ... (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将子查询放在主查询之前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执行逻辑：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CTE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先被计算，然后主查询再使用它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Nested Query 嵌套查询</a:t>
            </a:r>
            <a:endParaRPr lang="en-US" altLang="zh-CN" sz="8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 子句中的子查询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可以在 FROM 子句中直接使用子查询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记得用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AS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为子查询的结果集重命名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6385" y="3377565"/>
            <a:ext cx="2611755" cy="591820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5305425" y="3947160"/>
            <a:ext cx="2757805" cy="2106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Scalar Subquery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标量子查询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可以在 SELECT 子句中使用子查询，但该子查询必须只返回一列和一行（即标量值）（没啥卵用）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子句中的嵌套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 IN: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 FROM ... WHERE col IN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 ANY: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 FROM ... WHERE col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&lt;cond&gt;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ANY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col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IN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相当于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col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ANY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 ALL: 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 FROM ... WHERE col &lt;cond&gt; ANY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由于直接在 WHERE 子句中使用聚合函数会导致语法错误，因此使用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ALL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来实现部分查找功能。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-- EXISTS: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 FROM ... WHERE EXISTS 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EXISTS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如果子查询有结果则返回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true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，否则返回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false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嵌套中的三种否定方法：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NOT IN，&lt;&gt;(!=)ALL, NOT EXIST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correlated subquery 相关子查询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子查询中的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WHERE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子句引用了外部查询的列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（例如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d.customerid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），这种查询被称为相关子查询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所有类型的子查询都可以是相关的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Nested 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Scoping 嵌套作用域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类似于编程中的词法作用域。内部查询可以使用外部表的列，但外部查询不能使用内部表的列。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 子句中的嵌套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当需要对两个不同的分组进行聚合函数比较时，可以使用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HAVING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嵌套查询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345430" y="5972810"/>
            <a:ext cx="2684145" cy="198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案例：找出每个国家中消费最高的客户(best customers)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5"/>
          <a:srcRect r="43591"/>
          <a:stretch>
            <a:fillRect/>
          </a:stretch>
        </p:blipFill>
        <p:spPr>
          <a:xfrm>
            <a:off x="5542915" y="6150610"/>
            <a:ext cx="2089785" cy="13646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/>
          <p:nvPr/>
        </p:nvSpPr>
        <p:spPr>
          <a:xfrm>
            <a:off x="-3660731" y="-2608870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27" name="矩形 26"/>
          <p:cNvSpPr/>
          <p:nvPr/>
        </p:nvSpPr>
        <p:spPr>
          <a:xfrm>
            <a:off x="13411838" y="-2609505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28" name="矩形 27"/>
          <p:cNvSpPr/>
          <p:nvPr/>
        </p:nvSpPr>
        <p:spPr>
          <a:xfrm>
            <a:off x="13411838" y="8933029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sp>
        <p:nvSpPr>
          <p:cNvPr id="29" name="矩形 28"/>
          <p:cNvSpPr/>
          <p:nvPr/>
        </p:nvSpPr>
        <p:spPr>
          <a:xfrm>
            <a:off x="-3660731" y="8933029"/>
            <a:ext cx="314308" cy="296347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75"/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346000" y="0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020050" y="0"/>
            <a:ext cx="2668270" cy="5645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</a:t>
            </a:r>
            <a:r>
              <a:rPr lang="zh-CN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] 计算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以下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函数依赖集Σ 的候选键和最小/规范覆盖/3NF</a:t>
            </a:r>
            <a:endParaRPr lang="zh-CN" altLang="en-US" sz="70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关系模式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(R): R = {A, B, C, D, E}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函数依赖集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Σ = {{A,B}-&gt;{C,D,E}, {A,C}-&gt;{B,D,E}, {B}-&gt;{C}, {C}-&gt;{B}, {C}-&gt;{D}, {B}-&gt;{E}, {C}-&gt;{E}}</a:t>
            </a:r>
            <a:endParaRPr lang="en-US" altLang="zh-CN" sz="77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求解候选键</a:t>
            </a:r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 (Candidate Keys)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即找到最小的属性集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K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使得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K+ = R = {A, B, C, D, E}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1: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观察右侧（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RHS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）若属性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A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没有出现在任何函数依赖（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FD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）的右侧，则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必须出现在所有的候选键中。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2: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计算闭包并找出超键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我们尝试所有包含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A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的集合：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{A}+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的计算：结果是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。不是超键。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{A, B}+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的计算：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   *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开始。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   *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B, C}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   *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{B}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B, C}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   *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{D}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B, C, D}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   *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{E}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{E}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B, C, D, E}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结果：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B}+ = {A, B, C, D, E} = 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b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{A, B}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是一个候选键，（因为其子集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都不是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）。同理，由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{A, C}+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开始计算可知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{A, C}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也为候选键。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 2. 求解最小覆盖 (Minimal Cover)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最小覆盖算法分为三个步骤：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1: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简化右侧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(RHS)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将所有右侧属性多于一个的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拆分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Σ1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= { {A, 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{A, 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{A, B}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{A, C}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{A, 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{C}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{C}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 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2: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简化左侧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(LHS)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移除左侧多余的属性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（如果移除后，剩下的属性仍然能决定右侧）：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B} -&gt;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{C}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C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B} -&gt; {D}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{D}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B} -&gt;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E}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{E}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E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C} -&gt; {B}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{B}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B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C} -&gt; {D}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{D}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{A, C} -&gt; {E}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简化为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{E}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（因为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{C}+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包含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E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Σ2=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 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步骤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</a:rPr>
              <a:t> 3: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</a:rPr>
              <a:t>简化集合本身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移除可以被剩余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推导出来的冗余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，并去除重复项：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去除重复项：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Σ3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= {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 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检查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{B}-&gt;{D}: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可被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{D}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推导，移除。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检查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{B}-&gt;{E}: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可被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 -&gt;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{E}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推导，移除。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检查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{C}-&gt;{D}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{E}: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不能被其余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推导，保留。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检查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{B}-&gt;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{C} -&gt; {B}: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互为反向依赖，都不能被移除，保留。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最终最小覆盖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ΣC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= {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 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注意：最小覆盖可能不唯一，另一种可能是用</a:t>
            </a:r>
            <a:r>
              <a:rPr lang="en-US" altLang="zh-CN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{B}</a:t>
            </a:r>
            <a:r>
              <a:rPr lang="zh-CN" altLang="en-US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推导</a:t>
            </a:r>
            <a:r>
              <a:rPr lang="en-US" altLang="zh-CN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{D} </a:t>
            </a:r>
            <a:r>
              <a:rPr lang="zh-CN" altLang="en-US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53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{E}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 3. 求解规范覆盖 (Canonical Cover)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在最小覆盖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ΣC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的基础上，将具有相同左侧的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的右侧合并：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LHS = {B}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FD: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合并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LHS = {C}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FD: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{D}, {C}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{E}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{B, D, E}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最终规范覆盖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ΣD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):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ΣD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= { {B}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{C}, {C}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-&gt;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{B, D, E} 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4. 3NF合成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利用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规范覆盖合成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Ri = X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∪ Y : R1={B,C}; R2={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B, C, D, E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</a:rPr>
              <a:t>删除子集：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</a:rPr>
              <a:t>R1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⊆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R2,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故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去除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添加一个候选键：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R2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不为候选键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故添加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R2 = {A, B}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最终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3NF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关系集：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R’= {{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A, B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},{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B, C, D, E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}}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8028000" y="-635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2664000" y="-635"/>
            <a:ext cx="0" cy="75603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-18415" y="0"/>
            <a:ext cx="2733040" cy="2620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Relational Algebra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关系代数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操作数是关系（表），运算符将输入表转换为输出表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。关系基于集合，因此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在关系代数中不存在重复行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，这一点与SQL略有不同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7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Propositional Logic命题逻辑</a:t>
            </a:r>
            <a:endParaRPr lang="en-US" altLang="zh-CN" sz="7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57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模型语义由连接词的真值表定义</a:t>
            </a:r>
            <a:r>
              <a:rPr lang="zh-CN" altLang="en-US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conjunction</a:t>
            </a:r>
            <a:r>
              <a:rPr lang="zh-CN" altLang="en-US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合取（∧）、</a:t>
            </a:r>
            <a:r>
              <a:rPr lang="en-US" altLang="zh-CN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disjunction</a:t>
            </a:r>
            <a:r>
              <a:rPr lang="zh-CN" altLang="en-US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析取（∨）和</a:t>
            </a:r>
            <a:r>
              <a:rPr lang="en-US" altLang="zh-CN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negation</a:t>
            </a:r>
            <a:r>
              <a:rPr lang="zh-CN" altLang="en-US" sz="57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否定（¬）</a:t>
            </a:r>
            <a:r>
              <a:rPr lang="zh-CN" altLang="en-US" sz="57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57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逻辑蕴含与等价</a:t>
            </a:r>
            <a:r>
              <a:rPr lang="en-US" altLang="zh-CN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(p -&gt; q &lt;=&gt; </a:t>
            </a:r>
            <a:r>
              <a:rPr lang="zh-CN" altLang="en-US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¬</a:t>
            </a:r>
            <a:r>
              <a:rPr lang="en-US" altLang="zh-CN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</a:t>
            </a:r>
            <a:r>
              <a:rPr lang="zh-CN" altLang="en-US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∨</a:t>
            </a:r>
            <a:r>
              <a:rPr lang="en-US" altLang="zh-CN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q)</a:t>
            </a:r>
            <a:endParaRPr lang="en-US" altLang="zh-CN" sz="6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Operators 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关系运算符</a:t>
            </a:r>
            <a:endParaRPr lang="zh-CN" altLang="en-US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选择运算符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-- σ</a:t>
            </a:r>
            <a:r>
              <a:rPr lang="en-US" altLang="zh-CN" sz="7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[c]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(R)</a:t>
            </a:r>
            <a:br>
              <a:rPr lang="en-US" altLang="zh-CN" sz="67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从关系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r>
              <a:rPr lang="zh-CN" altLang="en-US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选取所有满足选择条件</a:t>
            </a:r>
            <a:r>
              <a:rPr lang="en-US" altLang="zh-CN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lang="zh-CN" altLang="en-US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的行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，对应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eg: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σ[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area = 'London'](restaurant) &lt;=&gt;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* FROM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restaurant r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r.area = 'London';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投影运算符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-- π</a:t>
            </a:r>
            <a:r>
              <a:rPr lang="en-US" altLang="zh-CN" sz="7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[l]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(R)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选取有序列表l中指定的列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并保持相同顺序，对应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... FROM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eg: π[cname](likes)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&lt;=&gt;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l.cname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likes l;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重命名运算符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--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ρ(R</a:t>
            </a:r>
            <a:r>
              <a:rPr lang="zh-CN" altLang="en-US" sz="7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R</a:t>
            </a:r>
            <a:r>
              <a:rPr lang="zh-CN" altLang="en-US" sz="7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可用于对关系进行重命名，相当于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子句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 FROM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中常省略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eg: π[r.attr](σ[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&lt;condition&gt;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](ρ(rel, r))) 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&lt;=&gt;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SELECT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DISTINCT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r.attr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FROM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rel r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WHERE &lt;condition&gt;;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属性重命名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</a:t>
            </a:r>
            <a:r>
              <a:rPr lang="en-US" altLang="zh-CN" sz="6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R</a:t>
            </a:r>
            <a:r>
              <a:rPr lang="en-US" altLang="zh-CN" sz="6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(A1-&gt;B1))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将属性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A1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重命名为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B1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集合运算符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0640" y="2576830"/>
            <a:ext cx="2456180" cy="1156970"/>
            <a:chOff x="1235" y="3888"/>
            <a:chExt cx="6483" cy="324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rcRect t="1516"/>
            <a:stretch>
              <a:fillRect/>
            </a:stretch>
          </p:blipFill>
          <p:spPr>
            <a:xfrm>
              <a:off x="4610" y="3913"/>
              <a:ext cx="3109" cy="3211"/>
            </a:xfrm>
            <a:prstGeom prst="rect">
              <a:avLst/>
            </a:prstGeom>
          </p:spPr>
        </p:pic>
        <p:pic>
          <p:nvPicPr>
            <p:cNvPr id="9" name="图片 8" descr="Screenshot 2025-11-22 1252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5" y="3888"/>
              <a:ext cx="3375" cy="3241"/>
            </a:xfrm>
            <a:prstGeom prst="rect">
              <a:avLst/>
            </a:prstGeom>
          </p:spPr>
        </p:pic>
      </p:grpSp>
      <p:sp>
        <p:nvSpPr>
          <p:cNvPr id="16" name="文本框 15"/>
          <p:cNvSpPr txBox="1"/>
          <p:nvPr/>
        </p:nvSpPr>
        <p:spPr>
          <a:xfrm>
            <a:off x="8006715" y="6034405"/>
            <a:ext cx="2736215" cy="1420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补充知识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Transaction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数据库事务 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ACID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特性：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是数据库事务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(Transaction)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处理的四大基本要素。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- Atomicity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原子性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如果事务中有任何一步失败（比如代码报错、数据库崩溃），整个事务必须回滚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(Rollback)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到初始状态。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 - Consistency 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一致性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：事务执行前后，数据库必须从一个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合法状态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转换到另一个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合法状态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（满足外键约束、唯一性约束、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Check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约束等）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 - Isolation (隔离性)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当多个事务并发执行时，一个事务的执行不应影响其他事务的执行。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 - Durability (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持久性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一旦事务被“提交 (Commit)”，它对数据的修改就是永久的。即使数据库服务器系统崩溃或重启，数据也不会丢失。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Transaction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implementation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事务实施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一种方式是使用包含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BEGIN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COMMIT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ABORT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ROLLBACK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等关键词的代码块。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" y="6650355"/>
            <a:ext cx="2646680" cy="6426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3810000"/>
            <a:ext cx="2662555" cy="59880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二元运算符与连接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笛卡尔积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交叉积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(Cross Product, x)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</a:t>
            </a:r>
            <a:r>
              <a:rPr lang="en-US" altLang="zh-CN" sz="6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的每一行与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</a:t>
            </a:r>
            <a:r>
              <a:rPr lang="en-US" altLang="zh-CN" sz="600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的每一行组合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结果可以包括重复行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案例：查找同一区域的客户和餐馆对</a:t>
            </a:r>
            <a:endParaRPr lang="zh-CN" altLang="en-US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代数逻辑：先做积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，再做选择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，最后投影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4393565"/>
            <a:ext cx="1342390" cy="3644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" y="4378325"/>
            <a:ext cx="1267460" cy="3575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4700905"/>
            <a:ext cx="27152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连接运算符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Join, 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⋈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 ⋈[c] R2 被简单地定义为 σ[c](R1 × R2)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。换句话说，我们仅保留在笛卡尔积运算后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满足条件 c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的元组。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5" y="5069205"/>
            <a:ext cx="2637155" cy="7899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rcRect t="37830" r="3343"/>
          <a:stretch>
            <a:fillRect/>
          </a:stretch>
        </p:blipFill>
        <p:spPr>
          <a:xfrm>
            <a:off x="33655" y="6034405"/>
            <a:ext cx="2625725" cy="55308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35" y="5866765"/>
            <a:ext cx="266319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示例：查找喜欢价格 &gt; 15 的披萨的客户</a:t>
            </a:r>
            <a:endParaRPr lang="en-US" altLang="zh-CN" sz="700" b="1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32075" y="0"/>
            <a:ext cx="2724785" cy="4509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Functional Dependencies 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函数依赖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单表设计导致的异常（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Anomalies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由于某些列的值由其他列唯一确定，单表设计会导致以下问题：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冗余存储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(Redundancy)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部门所属的学院信息在每一行都重复存储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更新异常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(Update Anomaly)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如果某部门更换了学院，需要更新多行数据。如果只更新了一部分，会导致数据不一致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删除异常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(Deletion Anomaly)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如果删除了某系的最后一名学生，关于该系及其所属学院的信息也会被一并丢失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插入异常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(Insertion Anomaly)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如果没有学生，就无法录入新的部门或学院信息（因为主键通常包含学生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，不能为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NULL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Functional Dependencies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FD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函数依赖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为了解决上述异常，引入了函数依赖的概念。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对于关系模式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中的属性集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的值能唯一确定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的值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，则称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 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函数决定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</a:t>
            </a:r>
            <a:r>
              <a:rPr lang="en-US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可读作：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functionally determines Y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determines Y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is functionally dependent on X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implies Y</a:t>
            </a:r>
            <a:endParaRPr lang="en-US" altLang="zh-CN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有效性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(Validity)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如果一个实例中不存在两条记录在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上相同但在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上不同，则该实例满足函数依赖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平凡性 (Triviality)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Trivial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→ Y 是平凡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当且仅当 Y ⊆ X. （例如{A, B}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{A}）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Non-trivial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→ Y 是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非平凡依赖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当且仅当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⊈ X 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Completely Non-trivial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→ Y 是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完全非平凡依赖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当且仅当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Y ≠ ∅ and Y ∩ X = ∅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交集）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Keys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题目没说明是默认说的是主键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基于函数依赖定义了不同类型的键：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超键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(Superkey)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能决定关系中所有属性的属性集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</a:t>
            </a:r>
            <a:endParaRPr lang="en-US" altLang="zh-CN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候选键 (Candidate Key)：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最小的超键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。即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是超键，且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的任何真子集都不是超键。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主属性 (Prime Attribute)：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包含在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任何一个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候选键中的属性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。不包含在任何候选键中的属性称为非主属性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(Non-Prime Attribute)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Closures 闭包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为了推导和验证函数依赖，引入了闭包的概念。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函数依赖集的闭包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Σ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+)</a:t>
            </a:r>
            <a:endParaRPr lang="en-US" altLang="zh-CN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由集合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逻辑推导出的所有函数依赖的集合。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属性集的闭包 （S+）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给定函数依赖集，能由属性集 S 函数决定的所有属性的集合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Armstrong Axioms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阿姆斯特朗公理</a:t>
            </a:r>
            <a:endParaRPr lang="zh-CN" altLang="en-US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一种用于推导 FD 的规则，包括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自反律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增广律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传递律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Reflexivity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自反律：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平凡函数依赖总是成立的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Augmentation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增广律：你可以同时为左边和右边添加相同的属性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Transitivity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传递律：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→ Y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Z =&gt; X → Z</a:t>
            </a: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：属性闭包算法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en-US" altLang="zh-CN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5260" y="4509770"/>
            <a:ext cx="1351280" cy="91694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2643505" y="5417185"/>
            <a:ext cx="2666365" cy="983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等价</a:t>
            </a:r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(Equivalent)</a:t>
            </a:r>
            <a:endParaRPr lang="en-US" altLang="zh-CN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如果两个依赖集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Σ1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的闭包相同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，则它们等价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最小覆盖 (Minimal Cover/Basis)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最小覆盖是一个简化的依赖集，满足三个条件：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右侧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(RHS)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只有一个属性（单元素集）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左侧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(LHS)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是最小的（不能删除左侧的任何属性而不改变闭包）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集合本身是最小的（不能删除任何一条依赖而不改变闭包）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规范覆盖 (Canonical Cover)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在最小覆盖的基础上，将具有相同左侧的依赖合并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32075" y="6334125"/>
            <a:ext cx="27628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BCNF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Boyce-Codd Normal Form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一个关系 R 属于 BCNF，当且仅当对于所有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非平凡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的函数依赖 X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A，X 必须是 R 的超键 (Superkey)。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BCNF</a:t>
            </a:r>
            <a:r>
              <a:rPr lang="zh-CN" altLang="en-US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的直观理解：任何决定其他属性的属性集，都必须能唯一标识一行数据。即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每个非键属性必须完全依赖于主键</a:t>
            </a:r>
            <a:r>
              <a:rPr lang="en-US" altLang="zh-CN" sz="6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en-US" altLang="zh-CN" sz="6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Properties of Decomposition BCNF</a:t>
            </a:r>
            <a:r>
              <a:rPr lang="zh-CN" altLang="en-US" sz="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分解的性质</a:t>
            </a:r>
            <a:endParaRPr lang="zh-CN" altLang="en-US" sz="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无损连接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(Lossless-Join) —— 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必须满足</a:t>
            </a:r>
            <a:endParaRPr lang="zh-CN" altLang="en-US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分解后的表通过自然连接（Natural Join）重新合并后，必须能完全还原原始表，不能多出虚假的行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判断依据：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对于分解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，如果公共属性（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R1∩R2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）是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R1,R2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其中一个的超键，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R1∩R2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  R1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或（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R1∩R2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→R2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，则分解是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无损的。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09870" y="0"/>
            <a:ext cx="27520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BCNF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Boyce-Codd Normal Form</a:t>
            </a:r>
            <a:endParaRPr lang="zh-CN" altLang="en-US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依赖保持 (Dependency Preservation) 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Dependency Preserving Decomposition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依赖保持分解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将关系模式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及其函数依赖集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分解为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 = {R1, ..., Rn}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及各子模式的函数依赖集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Σ|</a:t>
            </a:r>
            <a:r>
              <a:rPr lang="en-US" altLang="zh-CN" sz="600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,..., Σ|</a:t>
            </a:r>
            <a:r>
              <a:rPr lang="en-US" altLang="zh-CN" sz="600" baseline="-25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Rn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当且仅当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Σ+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=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(Σ|</a:t>
            </a:r>
            <a:r>
              <a:rPr lang="en-US" altLang="zh-CN" sz="6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∪ ... ∪ Σ|</a:t>
            </a:r>
            <a:r>
              <a:rPr lang="en-US" altLang="zh-CN" sz="600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Rn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)+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（投影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依赖并集的闭包与原依赖集的闭包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相同）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时，该分解具有依赖保持性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Projection of Functional Dependencies 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函数依赖投影</a:t>
            </a:r>
            <a:endParaRPr lang="zh-CN" altLang="en-US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在R的子集R'（R'⊆R）上，从R和Σ导出的投影函数依赖集Σ'定义为：对于Σ+中所有形如X→Y的依赖，当且仅当X⊆R'且Y⊆R'时，X→Y属于Σ'。给定R'时，也可将Σ在R'上的投影记作Σ|R'。</a:t>
            </a:r>
            <a:endParaRPr lang="zh-CN" altLang="en-US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为了检查分解后的表是否满足 BCNF，需要计算“投影”后的函数依赖。这涉及计算属性闭包（Attribute Closure）来找出新表中成立的所有依赖。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BCNF 分解算法 (BCNF Decomposition Algorithm)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 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该算法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不保证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依赖保持</a:t>
            </a:r>
            <a:endParaRPr lang="en-US" altLang="zh-CN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查找违规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Violation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依赖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 在当前关系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的函数依赖集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找到一个违反 BCNF 的函数依赖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</a:t>
            </a:r>
            <a:r>
              <a:rPr lang="en-US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Y（即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不是超键，且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 ⊈X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分解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：将关系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分解为两个关系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，具体方式如下：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 = X</a:t>
            </a:r>
            <a:r>
              <a:rPr lang="en-US" altLang="zh-CN" sz="600" b="1" baseline="30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（关系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的闭包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R2 = (R - X</a:t>
            </a:r>
            <a:r>
              <a:rPr lang="en-US" altLang="zh-CN" sz="600" b="1" baseline="30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∪ X    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递归：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R1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R2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在投影依赖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下是否满足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BCNF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，如果不满足，对子关系继续重复上述步骤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309870" y="1963420"/>
            <a:ext cx="2752090" cy="221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3NF</a:t>
            </a:r>
            <a:r>
              <a:rPr lang="zh-CN" altLang="en-US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Third Normal Form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第三范式(3NF)的定义与动机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一个关系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及其函数依赖集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满足第三范式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(3NF)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，当且仅当对于</a:t>
            </a:r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Σ+</a:t>
            </a:r>
            <a:r>
              <a:rPr lang="zh-CN" altLang="en-US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中的每个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函数依赖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en-US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{A}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满足以下条件之一：</a:t>
            </a:r>
            <a:endParaRPr lang="zh-CN" altLang="en-US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(1) X</a:t>
            </a:r>
            <a:r>
              <a:rPr lang="en-US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{A}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trivial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平凡函数依赖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(2)X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是超键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(3)</a:t>
            </a:r>
            <a:r>
              <a:rPr lang="en-US" altLang="zh-CN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是主属性</a:t>
            </a:r>
            <a:endParaRPr lang="zh-CN" altLang="en-US" sz="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3NF 的目的： 放宽 BCNF 对“主属性”（Prime Attributes）的要求，以确保既能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无损连接又能保持依赖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3NF 合成算法 (3NF Synthesis Algorithm)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Bernstein 算法</a:t>
            </a: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，用于将关系分解（实际上是“合成”）为 3NF。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该算法保证结果是无损连接且保持依赖的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算法步骤：</a:t>
            </a:r>
            <a:r>
              <a:rPr lang="en-US" altLang="zh-CN" sz="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Candidate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：找出关系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的所有候选键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Minimal Cover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：将函数依赖集简化为最小覆盖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Canonical Cover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：合并具有相同左部的函数依赖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Synthesis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：为规范覆盖中的每个依赖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创建一个新关系</a:t>
            </a:r>
            <a:endParaRPr lang="zh-CN" altLang="en-US" sz="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Ri = X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∪ Y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Remove subsumed relations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：果某个表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Ri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的属性集合是另一个表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Rj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的子集，删除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endParaRPr lang="en-US" altLang="zh-CN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 Add Candidate 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relation: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检查生成的表中是否包含原始关系的任何候选键。如果没有，创建一个包含任意一个候选键的新关系</a:t>
            </a:r>
            <a:r>
              <a:rPr lang="en-US" altLang="zh-CN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范式的层级关系：</a:t>
            </a:r>
            <a:endParaRPr lang="en-US" altLang="zh-CN" sz="7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4NF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⊆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BCNF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⊆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3NF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⊆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2NF </a:t>
            </a:r>
            <a:r>
              <a:rPr lang="zh-CN" altLang="en-US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⊆</a:t>
            </a:r>
            <a:r>
              <a:rPr lang="en-US" altLang="zh-CN" sz="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1NF</a:t>
            </a:r>
            <a:endParaRPr lang="zh-CN" altLang="en-US" sz="6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313680" y="4061460"/>
            <a:ext cx="2717800" cy="32150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9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解题方法模板</a:t>
            </a:r>
            <a:endParaRPr lang="en-US" altLang="zh-CN" sz="9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题型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1] 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求候选键：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LRMN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都没属性分类法</a:t>
            </a:r>
            <a:endParaRPr lang="zh-CN" altLang="en-US" sz="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R / M/ N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只在左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出现的属性。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黄金法则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左类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没类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属性一定包含在任何候选键中；右类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属性一定不包含在任何候选键中；都类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属性需要尝试组合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左边的闭包一定都要检查一遍，可能出现单</a:t>
            </a:r>
            <a:r>
              <a:rPr lang="en-US" altLang="zh-CN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多候选键的组合</a:t>
            </a:r>
            <a:endParaRPr lang="zh-CN" altLang="en-US" sz="7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题型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2] 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判断一个依赖是否满足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3NF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BCNF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：左看右看</a:t>
            </a:r>
            <a:endParaRPr lang="en-US" altLang="zh-CN" sz="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STEP0: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找出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所有候选键</a:t>
            </a:r>
            <a:endParaRPr lang="zh-CN" altLang="en-US" sz="7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STEP1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看左边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（判断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BCNF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）：检查箭头左边的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是否是超键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，如果是则满足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BCNF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（同时也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自动满足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7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STEP2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看右边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（判断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3NF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当左边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X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不是超键时</a:t>
            </a:r>
            <a:r>
              <a:rPr lang="zh-CN" altLang="en-US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，检查箭头右边的</a:t>
            </a:r>
            <a:r>
              <a:rPr lang="en-US" altLang="zh-CN" sz="7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是否是主属性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题型3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 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求函数依赖投影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Σ|</a:t>
            </a:r>
            <a:r>
              <a:rPr lang="zh-CN" altLang="en-US" sz="800" b="1" baseline="-2500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’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四步走</a:t>
            </a:r>
            <a:endParaRPr lang="zh-CN" altLang="en-US" sz="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STEP1-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直接继承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Y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都在新表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R'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中，直接保留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STEP2-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断桥重连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：左边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都在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R'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中，但右边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Y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部分或全部不在时，计算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的闭包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en-US" altLang="zh-CN" sz="700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，取新依赖：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 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(X</a:t>
            </a:r>
            <a:r>
              <a:rPr lang="en-US" altLang="zh-CN" sz="700" b="1" baseline="30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 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∩ R’- X)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STEP3-</a:t>
            </a:r>
            <a:r>
              <a:rPr lang="zh-CN" altLang="en-US" sz="7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修补残缺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：若左侧有部分删除的属性可由其他属性决定，右侧属性在</a:t>
            </a:r>
            <a:r>
              <a:rPr lang="en-US" altLang="zh-CN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R’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中，则可替换形成新的依赖（特例，</a:t>
            </a:r>
            <a:r>
              <a:rPr lang="en-US" altLang="zh-CN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L10 P47</a:t>
            </a:r>
            <a:r>
              <a:rPr lang="zh-CN" altLang="en-US" sz="7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7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STEP4-</a:t>
            </a: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去除冗余项：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{B,E}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{A,B}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可化简为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{B,E}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{A} </a:t>
            </a:r>
            <a:endParaRPr lang="en-US" altLang="zh-CN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[题型4] 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BCNF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算法分解</a:t>
            </a:r>
            <a:endParaRPr lang="en-US" altLang="zh-CN" sz="8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STEP1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：检查当前关系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和依赖集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是否已经满足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BCNF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定义：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zh-CN" altLang="en-US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 不是超键，且</a:t>
            </a:r>
            <a:r>
              <a:rPr lang="en-US" altLang="zh-CN" sz="7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Y ⊈X </a:t>
            </a:r>
            <a:endParaRPr lang="en-US" altLang="zh-CN" sz="7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STEP2: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若找到违规依赖，执行分解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 = X</a:t>
            </a:r>
            <a:r>
              <a:rPr lang="en-US" altLang="zh-CN" sz="700" b="1" baseline="30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（关系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R1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的闭包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R2 = (R - X</a:t>
            </a:r>
            <a:r>
              <a:rPr lang="en-US" altLang="zh-CN" sz="700" b="1" baseline="3000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en-US" altLang="zh-CN" sz="7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 ∪ X  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STEP3: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计算投影依赖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Σ|</a:t>
            </a:r>
            <a:r>
              <a:rPr lang="zh-CN" altLang="en-US" sz="7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7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7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Σ|</a:t>
            </a:r>
            <a:r>
              <a:rPr lang="zh-CN" altLang="en-US" sz="7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lang="en-US" altLang="zh-CN" sz="700" b="1" baseline="-25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 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STEP4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：若某个子关系还不满足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BCNF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，就对该子关系继续执行</a:t>
            </a:r>
            <a:r>
              <a:rPr lang="en-US" altLang="zh-CN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STEP1-3, </a:t>
            </a:r>
            <a:r>
              <a:rPr lang="zh-CN" altLang="en-US" sz="7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递归分解。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[题型5] 利用3NF算法分解--</a:t>
            </a:r>
            <a:r>
              <a:rPr lang="zh-CN" altLang="en-US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按照</a:t>
            </a:r>
            <a:r>
              <a:rPr lang="en-US" altLang="zh-CN" sz="8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3NF 合成算法即可</a:t>
            </a:r>
            <a:endParaRPr lang="zh-CN" altLang="en-US" sz="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13055</Words>
  <Application>WPS 演示</Application>
  <PresentationFormat>宽屏</PresentationFormat>
  <Paragraphs>396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Fu</dc:creator>
  <cp:lastModifiedBy>Flyan.Fu</cp:lastModifiedBy>
  <cp:revision>78</cp:revision>
  <dcterms:created xsi:type="dcterms:W3CDTF">2023-08-09T12:44:00Z</dcterms:created>
  <dcterms:modified xsi:type="dcterms:W3CDTF">2025-11-27T17:22:30Z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E50FF8C5E83E4410B203374FF31F42D4_12</vt:lpwstr>
  </property>
</Properties>
</file>