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7559675" cy="1069149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37955" y="1143000"/>
            <a:ext cx="218209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45000" y="1749875"/>
            <a:ext cx="5670000" cy="372250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45000" y="5615934"/>
            <a:ext cx="5670000" cy="2581497"/>
          </a:xfrm>
        </p:spPr>
        <p:txBody>
          <a:bodyPr/>
          <a:lstStyle>
            <a:lvl1pPr marL="0" indent="0" algn="ctr">
              <a:buNone/>
              <a:defRPr sz="1985"/>
            </a:lvl1pPr>
            <a:lvl2pPr marL="377825" indent="0" algn="ctr">
              <a:buNone/>
              <a:defRPr sz="1655"/>
            </a:lvl2pPr>
            <a:lvl3pPr marL="756285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89760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3870" indent="0" algn="ctr">
              <a:buNone/>
              <a:defRPr sz="132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5813" y="2665651"/>
            <a:ext cx="6520500" cy="4447700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5813" y="7155428"/>
            <a:ext cx="6520500" cy="2338941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7825" indent="0">
              <a:buNone/>
              <a:defRPr sz="1655">
                <a:solidFill>
                  <a:schemeClr val="tx1">
                    <a:tint val="75000"/>
                  </a:schemeClr>
                </a:solidFill>
              </a:defRPr>
            </a:lvl2pPr>
            <a:lvl3pPr marL="756285" indent="0">
              <a:buNone/>
              <a:defRPr sz="1490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8976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387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9751" y="2846330"/>
            <a:ext cx="3213000" cy="678416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827251" y="2846330"/>
            <a:ext cx="3213000" cy="678416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735" y="569266"/>
            <a:ext cx="6520500" cy="206668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0735" y="2621100"/>
            <a:ext cx="3198234" cy="1284561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89760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3870" indent="0">
              <a:buNone/>
              <a:defRPr sz="132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735" y="3905660"/>
            <a:ext cx="3198234" cy="57446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827251" y="2621100"/>
            <a:ext cx="3213984" cy="1284561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89760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3870" indent="0">
              <a:buNone/>
              <a:defRPr sz="132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827251" y="3905660"/>
            <a:ext cx="3213984" cy="57446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735" y="712820"/>
            <a:ext cx="2438296" cy="2494871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13984" y="1539494"/>
            <a:ext cx="3827251" cy="7598465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5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20735" y="3207691"/>
            <a:ext cx="2438296" cy="5942644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55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89760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3870" indent="0">
              <a:buNone/>
              <a:defRPr sz="8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735" y="712820"/>
            <a:ext cx="2438296" cy="2494871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213984" y="1539494"/>
            <a:ext cx="3827251" cy="7598465"/>
          </a:xfrm>
        </p:spPr>
        <p:txBody>
          <a:bodyPr/>
          <a:lstStyle>
            <a:lvl1pPr marL="0" indent="0">
              <a:buNone/>
              <a:defRPr sz="2645"/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89760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3870" indent="0">
              <a:buNone/>
              <a:defRPr sz="165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20735" y="3207691"/>
            <a:ext cx="2438296" cy="5942644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55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89760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3870" indent="0">
              <a:buNone/>
              <a:defRPr sz="8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410125" y="569266"/>
            <a:ext cx="1630125" cy="906123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9751" y="569266"/>
            <a:ext cx="4795875" cy="906123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19751" y="569266"/>
            <a:ext cx="6520500" cy="20666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9751" y="2846330"/>
            <a:ext cx="6520500" cy="6784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9751" y="9910180"/>
            <a:ext cx="1701000" cy="569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504251" y="9910180"/>
            <a:ext cx="2551500" cy="569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339251" y="9910180"/>
            <a:ext cx="1701000" cy="569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56285" rtl="0" eaLnBrk="1" latinLnBrk="0" hangingPunct="1">
        <a:lnSpc>
          <a:spcPct val="90000"/>
        </a:lnSpc>
        <a:spcBef>
          <a:spcPct val="0"/>
        </a:spcBef>
        <a:buNone/>
        <a:defRPr sz="3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230" indent="-189230" algn="l" defTabSz="756285" rtl="0" eaLnBrk="1" latinLnBrk="0" hangingPunct="1">
        <a:lnSpc>
          <a:spcPct val="90000"/>
        </a:lnSpc>
        <a:spcBef>
          <a:spcPct val="166000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5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488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655" kern="1200">
          <a:solidFill>
            <a:schemeClr val="tx1"/>
          </a:solidFill>
          <a:latin typeface="+mn-lt"/>
          <a:ea typeface="+mn-ea"/>
          <a:cs typeface="+mn-cs"/>
        </a:defRPr>
      </a:lvl3pPr>
      <a:lvl4pPr marL="132270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70116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207899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45681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83527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21310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1pPr>
      <a:lvl2pPr marL="37782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2pPr>
      <a:lvl3pPr marL="75628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3pPr>
      <a:lvl4pPr marL="113411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51193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188976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26822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64604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02387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emf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矩形 22"/>
          <p:cNvSpPr/>
          <p:nvPr/>
        </p:nvSpPr>
        <p:spPr>
          <a:xfrm>
            <a:off x="-3651475" y="-2688977"/>
            <a:ext cx="479892" cy="45247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27" name="矩形 26"/>
          <p:cNvSpPr/>
          <p:nvPr/>
        </p:nvSpPr>
        <p:spPr>
          <a:xfrm>
            <a:off x="10142000" y="-2688977"/>
            <a:ext cx="479892" cy="45247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28" name="矩形 27"/>
          <p:cNvSpPr/>
          <p:nvPr/>
        </p:nvSpPr>
        <p:spPr>
          <a:xfrm>
            <a:off x="10142000" y="11584675"/>
            <a:ext cx="479892" cy="45247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29" name="矩形 28"/>
          <p:cNvSpPr/>
          <p:nvPr/>
        </p:nvSpPr>
        <p:spPr>
          <a:xfrm>
            <a:off x="-3651475" y="11584675"/>
            <a:ext cx="479892" cy="45247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cxnSp>
        <p:nvCxnSpPr>
          <p:cNvPr id="4" name="直接连接符 3"/>
          <p:cNvCxnSpPr/>
          <p:nvPr/>
        </p:nvCxnSpPr>
        <p:spPr>
          <a:xfrm>
            <a:off x="3780000" y="0"/>
            <a:ext cx="0" cy="1069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139700" y="69850"/>
            <a:ext cx="3640455" cy="187896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基本运算</a:t>
            </a:r>
            <a:endParaRPr lang="zh-CN" altLang="en-US" sz="1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br>
              <a:rPr lang="en-US" altLang="zh-CN" sz="865">
                <a:solidFill>
                  <a:srgbClr val="D2533C"/>
                </a:solidFill>
                <a:latin typeface="Arial" panose="020B0604020202020204"/>
                <a:ea typeface="Arial" panose="020B0604020202020204"/>
              </a:rPr>
            </a:b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if </a:t>
            </a: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判断真值</a:t>
            </a:r>
            <a:endParaRPr lang="zh-CN" altLang="en-US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除了以下几类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，其他所有对象在</a:t>
            </a:r>
            <a:r>
              <a:rPr lang="en-US" altLang="zh-CN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if 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判断中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都为</a:t>
            </a:r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真</a:t>
            </a:r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None</a:t>
            </a:r>
            <a:r>
              <a:rPr lang="zh-CN" altLang="en-US" sz="8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8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False</a:t>
            </a:r>
            <a:r>
              <a:rPr lang="zh-CN" altLang="en-US" sz="8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8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0 </a:t>
            </a:r>
            <a:r>
              <a:rPr lang="zh-CN" altLang="en-US" sz="8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altLang="zh-CN" sz="8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 0.0</a:t>
            </a:r>
            <a:r>
              <a:rPr lang="zh-CN" altLang="en-US" sz="8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，空序列（</a:t>
            </a:r>
            <a:r>
              <a:rPr lang="en-US" altLang="zh-CN" sz="8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'', [], ()</a:t>
            </a:r>
            <a:r>
              <a:rPr lang="zh-CN" altLang="en-US" sz="8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），空字典（</a:t>
            </a:r>
            <a:r>
              <a:rPr lang="en-US" altLang="zh-CN" sz="8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{}</a:t>
            </a:r>
            <a:r>
              <a:rPr lang="zh-CN" altLang="en-US" sz="8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8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比较表达式</a:t>
            </a:r>
            <a:endParaRPr lang="zh-CN" altLang="en-US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or</a:t>
            </a:r>
            <a:r>
              <a:rPr lang="zh-CN" altLang="en-US" sz="8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8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and </a:t>
            </a:r>
            <a:r>
              <a:rPr lang="zh-CN" altLang="en-US" sz="8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运算规则：它返回的不是</a:t>
            </a:r>
            <a:r>
              <a:rPr lang="en-US" altLang="zh-CN" sz="8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 True </a:t>
            </a:r>
            <a:r>
              <a:rPr lang="zh-CN" altLang="en-US" sz="8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altLang="zh-CN" sz="8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 False</a:t>
            </a:r>
            <a:r>
              <a:rPr lang="zh-CN" altLang="en-US" sz="8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，而是决定运算结果的那个值。</a:t>
            </a:r>
            <a:endParaRPr lang="zh-CN" altLang="en-US" sz="8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8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链式比较</a:t>
            </a:r>
            <a:endParaRPr lang="zh-CN" altLang="en-US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整个表达式会按计算被拆解为一系列 and 连接的简单比较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例如</a:t>
            </a: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</a:rPr>
              <a:t> A == B == C </a:t>
            </a: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</a:rPr>
              <a:t>执行时会被解释为</a:t>
            </a: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</a:rPr>
              <a:t> A == B and B == C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运算符优先级</a:t>
            </a:r>
            <a:endParaRPr lang="zh-CN" altLang="en-US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算术运算符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比较运算符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逻辑</a:t>
            </a: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运算符</a:t>
            </a:r>
            <a:endParaRPr lang="zh-CN" altLang="en-US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  <a:buNone/>
            </a:pP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在一个同时包含 or 和 and 的表达式中，and 总是优先于 or 执行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  <a:buNone/>
            </a:pP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精度处理</a:t>
            </a:r>
            <a:endParaRPr lang="zh-CN" altLang="en-US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</a:rPr>
              <a:t>int()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的取整规则：</a:t>
            </a:r>
            <a:r>
              <a:rPr lang="zh-CN" altLang="en-US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直接截掉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小数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</a:rPr>
              <a:t>round()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近似（银行家舍入）规则：不看符号，四舍五入，</a:t>
            </a:r>
            <a:r>
              <a:rPr lang="zh-CN" altLang="en-US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奇进偶舍</a:t>
            </a:r>
            <a:endParaRPr lang="zh-CN" altLang="en-US" sz="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29540" y="2583180"/>
            <a:ext cx="3640455" cy="615823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9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</a:rPr>
              <a:t>字符串</a:t>
            </a:r>
            <a:endParaRPr lang="zh-CN" altLang="en-US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格式化字符串f-string</a:t>
            </a:r>
            <a:br>
              <a:rPr lang="en-US" altLang="zh-CN" sz="800">
                <a:solidFill>
                  <a:srgbClr val="D2533C"/>
                </a:solidFill>
                <a:latin typeface="Arial" panose="020B0604020202020204"/>
                <a:ea typeface="Arial" panose="020B0604020202020204"/>
                <a:sym typeface="+mn-ea"/>
              </a:rPr>
            </a:b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指定位数的进制转换，使用格式化指令</a:t>
            </a:r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0Nb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zh-CN" altLang="en-US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binary_str = </a:t>
            </a:r>
            <a:r>
              <a:rPr lang="en-US" altLang="zh-CN" sz="80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f'{num:0{N}b}'  </a:t>
            </a:r>
            <a:endParaRPr lang="en-US" altLang="zh-CN" sz="800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# num</a:t>
            </a:r>
            <a:r>
              <a:rPr lang="zh-CN" altLang="en-US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：十进制数字，</a:t>
            </a:r>
            <a:r>
              <a:rPr lang="en-US" altLang="zh-CN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zh-CN" altLang="en-US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：位数</a:t>
            </a:r>
            <a:r>
              <a:rPr lang="en-US" altLang="zh-CN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b: </a:t>
            </a:r>
            <a:r>
              <a:rPr lang="zh-CN" altLang="en-US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格式化为</a:t>
            </a:r>
            <a:r>
              <a:rPr lang="en-US" altLang="zh-CN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进制</a:t>
            </a:r>
            <a:endParaRPr lang="en-US" altLang="zh-CN" sz="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  <a:buNone/>
            </a:pP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str.join()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序列转换成字符串 </a:t>
            </a:r>
            <a:endParaRPr lang="zh-CN" altLang="en-US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  <a:buNone/>
            </a:pP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语法：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8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分隔符</a:t>
            </a:r>
            <a:r>
              <a:rPr lang="en-US" altLang="zh-CN" sz="8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join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(列表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元组)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  <a:buNone/>
            </a:pP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【注】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如果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序列里混入了数字（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Integer/Float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），它会立刻报错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  <a:buNone/>
            </a:pP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str.split() 字符串</a:t>
            </a: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切割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成列表</a:t>
            </a:r>
            <a:endParaRPr lang="zh-CN" altLang="en-US" sz="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语法：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8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字符串</a:t>
            </a:r>
            <a:r>
              <a:rPr lang="en-US" altLang="zh-CN" sz="8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split()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分隔符</a:t>
            </a:r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, 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分割次数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如果不传参数，</a:t>
            </a:r>
            <a:r>
              <a:rPr lang="en-US" altLang="zh-CN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split() 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会把所有的空白字符</a:t>
            </a:r>
            <a:r>
              <a:rPr lang="zh-CN" altLang="en-US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（空格、换行</a:t>
            </a:r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\n</a:t>
            </a:r>
            <a:r>
              <a:rPr lang="zh-CN" altLang="en-US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、制表符</a:t>
            </a:r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\t</a:t>
            </a:r>
            <a:r>
              <a:rPr lang="zh-CN" altLang="en-US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都当成切割刀，而且会</a:t>
            </a:r>
            <a:r>
              <a:rPr lang="zh-CN" altLang="en-US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自动忽略连续的空白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str.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strip()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字符串</a:t>
            </a: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移除指定字符</a:t>
            </a:r>
            <a:endParaRPr lang="zh-CN" altLang="en-US" sz="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strip() 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移除</a:t>
            </a:r>
            <a:r>
              <a:rPr lang="zh-CN" altLang="en-US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开头和结尾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的指定字符，若</a:t>
            </a:r>
            <a:r>
              <a:rPr lang="zh-CN" altLang="en-US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未指定则移除空白字符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。还可分为</a:t>
            </a:r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lstrip()</a:t>
            </a:r>
            <a:r>
              <a:rPr lang="zh-CN" altLang="en-US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移除开头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的指定字符，</a:t>
            </a:r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rstrip()</a:t>
            </a:r>
            <a:r>
              <a:rPr lang="zh-CN" altLang="en-US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移除末尾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指定字符</a:t>
            </a:r>
            <a:endParaRPr lang="zh-CN" altLang="en-US" sz="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列表</a:t>
            </a:r>
            <a:endParaRPr lang="zh-CN" altLang="en-US" sz="9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列表推导式 list Comprehension</a:t>
            </a:r>
            <a:endParaRPr lang="en-US" altLang="zh-CN" sz="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相同的概念同样适用于</a:t>
            </a: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集合与字典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等其它</a:t>
            </a: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可迭代对象</a:t>
            </a:r>
            <a:br>
              <a:rPr lang="en-US" altLang="zh-CN" sz="900">
                <a:solidFill>
                  <a:srgbClr val="FF0000"/>
                </a:solidFill>
                <a:latin typeface="Arial" panose="020B0604020202020204"/>
                <a:ea typeface="Arial" panose="020B0604020202020204"/>
                <a:sym typeface="+mn-ea"/>
              </a:rPr>
            </a:br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[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表达式</a:t>
            </a:r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8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for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元素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8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可迭代对象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8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if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条件</a:t>
            </a:r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]</a:t>
            </a:r>
            <a:endParaRPr lang="zh-CN" altLang="en-US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9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eg:</a:t>
            </a:r>
            <a:endParaRPr lang="en-US" altLang="zh-CN" sz="9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List() </a:t>
            </a: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</a:t>
            </a:r>
            <a:endParaRPr lang="zh-CN" altLang="en-US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当直接把一个字典传给 list() 函数时，</a:t>
            </a: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只提取字典的键 (Keys)</a:t>
            </a:r>
            <a:endParaRPr lang="zh-CN" altLang="en-US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eg: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80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list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{1: 2, 3: 4}) --&gt; [1,3]</a:t>
            </a:r>
            <a:endParaRPr lang="zh-CN" altLang="en-US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列表的浅拷贝（Shallow Copy）</a:t>
            </a:r>
            <a:br>
              <a:rPr lang="zh-CN" altLang="en-US" sz="900">
                <a:sym typeface="+mn-ea"/>
              </a:rPr>
            </a:b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使用切片操作 [:] 最简洁，用于单层列表复制</a:t>
            </a:r>
            <a:endParaRPr lang="zh-CN" altLang="en-US" sz="900"/>
          </a:p>
          <a:p>
            <a:pPr algn="l">
              <a:buClrTx/>
              <a:buSzTx/>
              <a:buNone/>
            </a:pPr>
            <a:r>
              <a:rPr lang="en-US" altLang="zh-CN" sz="900">
                <a:latin typeface="微软雅黑" panose="020B0503020204020204" charset="-122"/>
                <a:ea typeface="微软雅黑" panose="020B0503020204020204" charset="-122"/>
                <a:sym typeface="+mn-ea"/>
              </a:rPr>
              <a:t>eg: new_list = original_list[:]</a:t>
            </a:r>
            <a:endParaRPr lang="en-US" altLang="zh-CN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列表的深拷贝（Deep Copy)</a:t>
            </a: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9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 </a:t>
            </a:r>
            <a:r>
              <a:rPr lang="zh-CN" altLang="zh-CN" sz="9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需要导入</a:t>
            </a:r>
            <a:r>
              <a:rPr lang="en-US" altLang="zh-CN" sz="9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copy</a:t>
            </a:r>
            <a:r>
              <a:rPr lang="zh-CN" altLang="en-US" sz="9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库</a:t>
            </a:r>
            <a:endParaRPr lang="en-US" altLang="zh-CN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  <a:buNone/>
            </a:pP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eg: new_list = copy.deepcopy(my_list)  </a:t>
            </a:r>
            <a:r>
              <a:rPr lang="zh-CN" altLang="en-US" sz="800" b="1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常用于嵌套列表复制</a:t>
            </a:r>
            <a:endParaRPr lang="zh-CN" altLang="en-US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列表方法计算复杂度</a:t>
            </a:r>
            <a:endParaRPr lang="en-US" altLang="zh-CN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insert(), pop(), remove(), in, index()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的复杂度为</a:t>
            </a:r>
            <a:r>
              <a:rPr lang="en-US" altLang="zh-CN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O(1)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，其他为</a:t>
            </a:r>
            <a:r>
              <a:rPr lang="en-US" altLang="zh-CN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O(n)</a:t>
            </a:r>
            <a:endParaRPr lang="en-US" altLang="zh-CN" sz="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append() 方法</a:t>
            </a: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陷阱</a:t>
            </a:r>
            <a:endParaRPr lang="zh-CN" altLang="en-US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t = t.append(x) 是错误的写法，因为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t.append(x)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的返回值是None，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因此只能写成 t.append(x)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900" b="1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9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字典</a:t>
            </a:r>
            <a:endParaRPr lang="zh-CN" altLang="en-US" sz="900" b="1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Key </a:t>
            </a:r>
            <a:r>
              <a:rPr lang="zh-CN" altLang="en-US" sz="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键</a:t>
            </a:r>
            <a:endParaRPr lang="zh-CN" altLang="en-US" sz="8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字典的键</a:t>
            </a: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必须唯一</a:t>
            </a: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若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定义时出现了重复的键，后面的值会</a:t>
            </a: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覆盖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前面的值。</a:t>
            </a:r>
            <a:endParaRPr lang="en-US" altLang="zh-CN" sz="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列表，集合，字典是可变对象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，即</a:t>
            </a: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不能作为字典的键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altLang="zh-CN" sz="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使用</a:t>
            </a: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dict.get()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时，如果键不存在会返回</a:t>
            </a:r>
            <a:r>
              <a:rPr lang="en-US" altLang="zh-CN" sz="800" b="1">
                <a:solidFill>
                  <a:schemeClr val="accent3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None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。使用</a:t>
            </a: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dict[key]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时会返回</a:t>
            </a:r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KeyError</a:t>
            </a:r>
            <a:endParaRPr lang="en-US" altLang="zh-CN" sz="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900" b="1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元组与集合</a:t>
            </a:r>
            <a:endParaRPr lang="zh-CN" altLang="en-US" sz="900" b="1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set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中的元素必须是可散列的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(hashable)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，然而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set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本身是不可散列的，所以此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set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是非法的，同理，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tuple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中包含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tuple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也</a:t>
            </a:r>
            <a:r>
              <a:rPr lang="zh-CN" altLang="en-US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是非法的</a:t>
            </a:r>
            <a:endParaRPr lang="zh-CN" altLang="en-US" sz="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集合的逻辑运算符</a:t>
            </a:r>
            <a:r>
              <a:rPr lang="zh-CN" altLang="en-US" sz="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优先级</a:t>
            </a:r>
            <a:endParaRPr lang="en-US" altLang="zh-CN" sz="8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Difference</a:t>
            </a:r>
            <a:r>
              <a:rPr lang="zh-CN" altLang="en-US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差集</a:t>
            </a:r>
            <a:r>
              <a:rPr lang="en-US" altLang="zh-CN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(-) &gt; </a:t>
            </a:r>
            <a:r>
              <a:rPr lang="en-US" altLang="zh-CN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Intersection</a:t>
            </a:r>
            <a:r>
              <a:rPr lang="zh-CN" altLang="en-US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交集</a:t>
            </a:r>
            <a:r>
              <a:rPr lang="en-US" altLang="zh-CN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(&amp;) &gt;  </a:t>
            </a:r>
            <a:r>
              <a:rPr lang="en-US" altLang="zh-CN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Symmetric Difference</a:t>
            </a:r>
            <a:r>
              <a:rPr lang="zh-CN" altLang="en-US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对称差集</a:t>
            </a:r>
            <a:r>
              <a:rPr lang="en-US" altLang="zh-CN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(^)  </a:t>
            </a:r>
            <a:r>
              <a:rPr lang="en-US" altLang="zh-CN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</a:t>
            </a:r>
            <a:r>
              <a:rPr lang="en-US" altLang="zh-CN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Union</a:t>
            </a:r>
            <a:r>
              <a:rPr lang="zh-CN" altLang="en-US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并集</a:t>
            </a:r>
            <a:r>
              <a:rPr lang="en-US" altLang="zh-CN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(|)</a:t>
            </a:r>
            <a:endParaRPr lang="en-US" altLang="zh-CN" sz="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695" y="5085080"/>
            <a:ext cx="2715260" cy="16129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3919220" y="69850"/>
            <a:ext cx="3640455" cy="234378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Iteration &amp; Recusion 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迭代与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</a:t>
            </a:r>
            <a:endParaRPr lang="zh-CN" altLang="en-US" sz="1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865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循环可迭代对象</a:t>
            </a:r>
            <a:endParaRPr lang="zh-CN" altLang="en-US" sz="865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遍历列表</a:t>
            </a:r>
            <a:br>
              <a:rPr lang="en-US" altLang="zh-CN" sz="865">
                <a:solidFill>
                  <a:srgbClr val="D2533C"/>
                </a:solidFill>
                <a:latin typeface="Arial" panose="020B0604020202020204"/>
                <a:ea typeface="Arial" panose="020B0604020202020204"/>
              </a:rPr>
            </a:b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for item in list：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其中item是根据列表索引+1迭代的，</a:t>
            </a:r>
            <a:r>
              <a:rPr lang="zh-CN" altLang="en-US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如果过程中用pop修改了列表，要小心</a:t>
            </a:r>
            <a:endParaRPr lang="zh-CN" altLang="en-US" sz="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遍历字典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Python 不允许在直接遍历字典的过程中</a:t>
            </a: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修改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（增加或删除元素）字典的</a:t>
            </a:r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Size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9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900" b="1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917950" y="2712085"/>
            <a:ext cx="3640455" cy="173418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Object-Oriented Programming 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面向对象编程</a:t>
            </a:r>
            <a:endParaRPr lang="zh-CN" altLang="en-US" sz="1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900" b="1">
                <a:solidFill>
                  <a:schemeClr val="accent3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lang="en-US" altLang="zh-CN" sz="900" b="1">
                <a:solidFill>
                  <a:schemeClr val="accent3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lass 类</a:t>
            </a:r>
            <a:endParaRPr lang="en-US" altLang="zh-CN" sz="900" b="1">
              <a:solidFill>
                <a:schemeClr val="accent3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Class (类) = 建筑图纸。它规定了房子有几扇窗、什么颜色，但它不是房子本身。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Object (对象/实例) = 实际盖好的房子。根据图纸，你可以盖出“一号房”、“二号房”。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self = “这栋”房子。当你在屋里刷漆时，self 确保你刷的是“这栋”房子的墙，而不是隔壁老王家的。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zh-CN" altLang="en-US" sz="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900" b="1">
                <a:solidFill>
                  <a:schemeClr val="accent3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Inheritance 继承</a:t>
            </a:r>
            <a:br>
              <a:rPr lang="en-US" altLang="zh-CN" sz="865">
                <a:solidFill>
                  <a:srgbClr val="D2533C"/>
                </a:solidFill>
                <a:latin typeface="Arial" panose="020B0604020202020204"/>
                <a:ea typeface="Arial" panose="020B0604020202020204"/>
              </a:rPr>
            </a:b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子类重写 __init__ 会完全覆盖父类的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__init__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，即</a:t>
            </a: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子类可不继承父类任何属性</a:t>
            </a:r>
            <a:endParaRPr lang="zh-CN" altLang="en-US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除非在子类中显式调用 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super().__init__(...)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或 A.__init__(self, ...)，否则父类的初始化逻辑永远不会执行</a:t>
            </a:r>
            <a:endParaRPr lang="zh-CN" altLang="en-US" sz="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900" b="1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917950" y="8997950"/>
            <a:ext cx="3639820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DEBUG &amp; ERRORS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try-except-else-finally 异常处理结构</a:t>
            </a:r>
            <a:endParaRPr lang="en-US" altLang="zh-CN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</a:rPr>
              <a:t>try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 : 尝试执行，异常不报错，转入except处理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</a:rPr>
              <a:t>except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：try块处理异常则执行此区域代码，无异常则跳过。没有指定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</a:rPr>
              <a:t>error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类型的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</a:rPr>
              <a:t>except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必须放在所有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</a:rPr>
              <a:t>except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的最后，并在前面的全部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</a:rPr>
              <a:t>except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没有匹配到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</a:rPr>
              <a:t>error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后匹配任意一个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</a:rPr>
              <a:t>error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</a:rPr>
              <a:t>else ：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只有当 try 顺利执行，没有任何报错，才会进入。如果进了except就不可能进else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</a:rPr>
              <a:t>finally: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不管前面是出错了、没出错、甚至try中用了 return，这一块代码都会执行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</a:rPr>
              <a:t>assert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</a:rPr>
              <a:t>: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断言语句。如果后面的条件为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False，会引发</a:t>
            </a: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</a:rPr>
              <a:t>AssertionError</a:t>
            </a:r>
            <a:endParaRPr lang="zh-CN" altLang="en-US" sz="8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29540" y="8780145"/>
            <a:ext cx="3640455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文件</a:t>
            </a:r>
            <a:endParaRPr lang="zh-CN" altLang="en-US" sz="10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文件打开模式</a:t>
            </a:r>
            <a:endParaRPr lang="zh-CN" altLang="en-US" sz="8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8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基础模式</a:t>
            </a:r>
            <a:endParaRPr lang="zh-CN" altLang="en-US" sz="800" b="1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r(Read)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只读（默认模式），文件不存在时报错，</a:t>
            </a: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原文件内容保持不变</a:t>
            </a:r>
            <a:endParaRPr lang="en-US" altLang="zh-CN" sz="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w(Write)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只写， 文件不存在时自动创建，</a:t>
            </a: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存在时Truncate清空原文件</a:t>
            </a:r>
            <a:endParaRPr lang="en-US" altLang="zh-CN" sz="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a(Append)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追加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写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，文件不存在时自动创建，存在时</a:t>
            </a: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在原文件末尾追加</a:t>
            </a:r>
            <a:endParaRPr lang="en-US" altLang="zh-CN" sz="8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增强模式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：加上+后，意味着</a:t>
            </a: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同时拥有读和写的权限</a:t>
            </a:r>
            <a:endParaRPr lang="en-US" altLang="zh-CN" sz="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r+(Read+Write)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读写, 文件不存在时报错, 从头开始读或</a:t>
            </a:r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覆盖写</a:t>
            </a:r>
            <a:endParaRPr lang="en-US" altLang="zh-CN" sz="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w+(Write+Read)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写读,文件不存在时自动创建,文件</a:t>
            </a:r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存在时会先清空</a:t>
            </a:r>
            <a:endParaRPr lang="en-US" altLang="zh-CN" sz="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a+（Append+Read）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追加读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写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，文件不存在时自动创建，但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起始指针在文件末尾，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读内容要先将指针seek(0)</a:t>
            </a:r>
            <a:endParaRPr lang="en-US" altLang="zh-CN" sz="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917950" y="5469255"/>
            <a:ext cx="3640455" cy="228473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High Order Function 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高阶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</a:t>
            </a:r>
            <a:endParaRPr lang="zh-CN" altLang="en-US" sz="1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在Python中，</a:t>
            </a: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</a:rPr>
              <a:t>函数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和整数、字符串一样，都</a:t>
            </a: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</a:rPr>
              <a:t>是对象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，可以被赋值给变量、存入列表、或者作为参数传递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Built-in HOF </a:t>
            </a: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内置高阶函数</a:t>
            </a:r>
            <a:br>
              <a:rPr lang="en-US" altLang="zh-CN" sz="865">
                <a:solidFill>
                  <a:srgbClr val="D2533C"/>
                </a:solidFill>
                <a:latin typeface="Arial" panose="020B0604020202020204"/>
                <a:ea typeface="Arial" panose="020B0604020202020204"/>
              </a:rPr>
            </a:b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map(func, iterable) </a:t>
            </a: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：把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 func </a:t>
            </a: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作用到每一个元素上</a:t>
            </a:r>
            <a:endParaRPr lang="zh-CN" altLang="en-US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filter(func, iterable)</a:t>
            </a: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：用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 func </a:t>
            </a: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来判断保留哪些元素</a:t>
            </a:r>
            <a:endParaRPr lang="zh-CN" altLang="en-US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sorted(iterable, key=func)</a:t>
            </a: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：用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 func </a:t>
            </a: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决定排序的规则</a:t>
            </a:r>
            <a:endParaRPr lang="zh-CN" altLang="en-US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[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注</a:t>
            </a:r>
            <a:r>
              <a:rPr lang="en-US" altLang="zh-CN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] map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filter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函数都返回一个可迭代的对象，只能读取一次</a:t>
            </a:r>
            <a:endParaRPr lang="zh-CN" altLang="en-US" sz="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9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reduce（）归约函数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* from functools import reduce </a:t>
            </a:r>
            <a:r>
              <a:rPr lang="zh-CN" altLang="en-US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不是内置函数，需导入（</a:t>
            </a:r>
            <a:r>
              <a:rPr lang="en-US" altLang="zh-CN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Python3</a:t>
            </a:r>
            <a:r>
              <a:rPr lang="zh-CN" altLang="en-US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移除）</a:t>
            </a:r>
            <a:endParaRPr lang="en-US" altLang="zh-CN" sz="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语法：</a:t>
            </a:r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reduce(</a:t>
            </a:r>
            <a:r>
              <a:rPr lang="zh-CN" altLang="en-US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函数</a:t>
            </a:r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zh-CN" altLang="en-US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可迭代对象</a:t>
            </a:r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reduce 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的核心逻辑是</a:t>
            </a:r>
            <a:r>
              <a:rPr lang="en-US" altLang="zh-CN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“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归约</a:t>
            </a:r>
            <a:r>
              <a:rPr lang="en-US" altLang="zh-CN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（或者叫折叠）。利用这个函数去</a:t>
            </a:r>
            <a:r>
              <a:rPr lang="en-US" altLang="zh-CN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滚动</a:t>
            </a:r>
            <a:r>
              <a:rPr lang="en-US" altLang="zh-CN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处理数据。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它把一堆数据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揉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成一个单独的结果。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9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Lambda </a:t>
            </a:r>
            <a:r>
              <a:rPr lang="zh-CN" altLang="en-US" sz="9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匿名函数</a:t>
            </a:r>
            <a:endParaRPr lang="en-US" altLang="zh-CN" sz="9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Lambda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函数的输入如果在</a:t>
            </a:r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for loop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中，那么他只会</a:t>
            </a:r>
            <a:r>
              <a:rPr lang="zh-CN" altLang="en-US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捕获</a:t>
            </a:r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for loop</a:t>
            </a:r>
            <a:r>
              <a:rPr lang="zh-CN" altLang="en-US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的最终值</a:t>
            </a:r>
            <a:r>
              <a:rPr lang="en-US" altLang="zh-CN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例如</a:t>
            </a:r>
            <a:r>
              <a:rPr lang="en-US" altLang="zh-CN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lambda x: i + x for i in range(3)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，此处的</a:t>
            </a:r>
            <a:r>
              <a:rPr lang="en-US" altLang="zh-CN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只会是</a:t>
            </a:r>
            <a:r>
              <a:rPr lang="en-US" altLang="zh-CN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矩形 22"/>
          <p:cNvSpPr/>
          <p:nvPr/>
        </p:nvSpPr>
        <p:spPr>
          <a:xfrm>
            <a:off x="-3786730" y="-2986792"/>
            <a:ext cx="479892" cy="45247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27" name="矩形 26"/>
          <p:cNvSpPr/>
          <p:nvPr/>
        </p:nvSpPr>
        <p:spPr>
          <a:xfrm>
            <a:off x="10142000" y="-2986792"/>
            <a:ext cx="479892" cy="45247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28" name="矩形 27"/>
          <p:cNvSpPr/>
          <p:nvPr/>
        </p:nvSpPr>
        <p:spPr>
          <a:xfrm>
            <a:off x="10621425" y="12834990"/>
            <a:ext cx="479892" cy="45247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29" name="矩形 28"/>
          <p:cNvSpPr/>
          <p:nvPr/>
        </p:nvSpPr>
        <p:spPr>
          <a:xfrm>
            <a:off x="-3786095" y="12835625"/>
            <a:ext cx="479892" cy="45247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grpSp>
        <p:nvGrpSpPr>
          <p:cNvPr id="13" name="组合 12"/>
          <p:cNvGrpSpPr/>
          <p:nvPr/>
        </p:nvGrpSpPr>
        <p:grpSpPr>
          <a:xfrm>
            <a:off x="3484029" y="90923"/>
            <a:ext cx="3650609" cy="1480751"/>
            <a:chOff x="5288" y="905"/>
            <a:chExt cx="5237" cy="2061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288" y="1271"/>
              <a:ext cx="5237" cy="1695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5344" y="905"/>
              <a:ext cx="3600" cy="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8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one-liners</a:t>
              </a:r>
              <a:endParaRPr lang="en-US" altLang="zh-CN" sz="108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163669" y="5575993"/>
            <a:ext cx="2468017" cy="240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97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文本分析</a:t>
            </a:r>
            <a:r>
              <a:rPr lang="zh-CN" altLang="en-US" sz="97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例程</a:t>
            </a:r>
            <a:endParaRPr lang="zh-CN" altLang="en-US" sz="97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86" y="5860838"/>
            <a:ext cx="2670943" cy="2173912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31" y="8079738"/>
            <a:ext cx="2437853" cy="218762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2695" y="3720745"/>
            <a:ext cx="3954312" cy="6822011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484245" y="3475355"/>
            <a:ext cx="37846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数据结构方法</a:t>
            </a:r>
            <a:endParaRPr lang="zh-CN" altLang="en-US" sz="1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484245" y="1577366"/>
            <a:ext cx="3879850" cy="1854809"/>
            <a:chOff x="5487" y="2550"/>
            <a:chExt cx="5960" cy="2783"/>
          </a:xfrm>
        </p:grpSpPr>
        <p:sp>
          <p:nvSpPr>
            <p:cNvPr id="3" name="文本框 2"/>
            <p:cNvSpPr txBox="1"/>
            <p:nvPr/>
          </p:nvSpPr>
          <p:spPr>
            <a:xfrm>
              <a:off x="5487" y="2550"/>
              <a:ext cx="5960" cy="36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0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算法（搜索排序）</a:t>
              </a:r>
              <a:r>
                <a:rPr lang="zh-CN" altLang="en-US" sz="10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时间复杂度</a:t>
              </a:r>
              <a:endPara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04" y="2911"/>
              <a:ext cx="4711" cy="2422"/>
            </a:xfrm>
            <a:prstGeom prst="rect">
              <a:avLst/>
            </a:prstGeom>
          </p:spPr>
        </p:pic>
      </p:grpSp>
      <p:sp>
        <p:nvSpPr>
          <p:cNvPr id="4" name="文本框 3"/>
          <p:cNvSpPr txBox="1"/>
          <p:nvPr/>
        </p:nvSpPr>
        <p:spPr>
          <a:xfrm>
            <a:off x="163830" y="230505"/>
            <a:ext cx="2908935" cy="2814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二分法查找</a:t>
            </a:r>
            <a:br>
              <a:rPr lang="zh-CN" altLang="en-US"/>
            </a:b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二分查找是处理有序数据时，效率最高的查找方法</a:t>
            </a:r>
            <a:endParaRPr lang="zh-CN" altLang="en-US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8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【寻找目标值在数组中的索引】</a:t>
            </a:r>
            <a:endParaRPr lang="en-US" altLang="zh-CN" sz="800" b="1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def binary_search(arr, target):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left = 0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right = len(arr) - 1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#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当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left &lt;= right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时，表示查找范围仍然有效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while left &lt;= right: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#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计算中间索引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,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避免可能导致的整数溢出</a:t>
            </a:r>
            <a:endParaRPr lang="zh-CN" altLang="en-US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mid = left + (right - left) // 2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current_value = arr[mid]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if current_value == target: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#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找到目标值，返回索引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return mid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elif current_value &lt; target: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#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中间值太小，目标在右侧，移动左边界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left = mid + 1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else: 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#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中间值太大，目标在左侧，移动右边界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right = mid - 1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#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循环结束时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left &gt; right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，表示没有找到目标值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return false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575" y="3479165"/>
            <a:ext cx="3328670" cy="171958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63830" y="3220085"/>
            <a:ext cx="1534795" cy="2120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计算方阵的</a:t>
            </a:r>
            <a:r>
              <a:rPr lang="zh-CN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逆</a:t>
            </a:r>
            <a:endParaRPr lang="zh-CN" altLang="zh-CN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3534</Words>
  <Application>WPS 演示</Application>
  <PresentationFormat>宽屏</PresentationFormat>
  <Paragraphs>150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Arial</vt:lpstr>
      <vt:lpstr>Calibri</vt:lpstr>
      <vt:lpstr>Arial Unicode MS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Fu</dc:creator>
  <cp:lastModifiedBy>Flyan.Fu</cp:lastModifiedBy>
  <cp:revision>44</cp:revision>
  <dcterms:created xsi:type="dcterms:W3CDTF">2023-08-09T12:44:00Z</dcterms:created>
  <dcterms:modified xsi:type="dcterms:W3CDTF">2025-11-24T07:41:54Z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E50FF8C5E83E4410B203374FF31F42D4_12</vt:lpwstr>
  </property>
</Properties>
</file>